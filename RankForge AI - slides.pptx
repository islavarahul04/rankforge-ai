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1"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4" r:id="rId18"/>
    <p:sldId id="275" r:id="rId19"/>
    <p:sldId id="276" r:id="rId20"/>
    <p:sldId id="277" r:id="rId21"/>
    <p:sldId id="278" r:id="rId22"/>
    <p:sldId id="279" r:id="rId23"/>
  </p:sldIdLst>
  <p:sldSz cx="9144000" cy="5143500" type="screen16x9"/>
  <p:notesSz cx="6858000" cy="9144000"/>
  <p:embeddedFontLst>
    <p:embeddedFont>
      <p:font typeface="Century Gothic" panose="020B0502020202020204" pitchFamily="34" charset="0"/>
      <p:regular r:id="rId25"/>
      <p:bold r:id="rId26"/>
      <p:italic r:id="rId27"/>
      <p:boldItalic r:id="rId28"/>
    </p:embeddedFont>
    <p:embeddedFont>
      <p:font typeface="Instrument Sans" panose="020B0604020202020204" charset="0"/>
      <p:regular r:id="rId29"/>
      <p:bold r:id="rId30"/>
      <p:italic r:id="rId31"/>
      <p:boldItalic r:id="rId32"/>
    </p:embeddedFont>
    <p:embeddedFont>
      <p:font typeface="Instrument Sans Medium" panose="020B0604020202020204" charset="0"/>
      <p:regular r:id="rId33"/>
      <p:bold r:id="rId34"/>
      <p:italic r:id="rId35"/>
      <p:boldItalic r:id="rId36"/>
    </p:embeddedFont>
    <p:embeddedFont>
      <p:font typeface="Instrument Sans SemiBold" panose="020B0604020202020204" charset="0"/>
      <p:regular r:id="rId37"/>
      <p:bold r:id="rId38"/>
      <p:italic r:id="rId39"/>
      <p:boldItalic r:id="rId40"/>
    </p:embeddedFont>
    <p:embeddedFont>
      <p:font typeface="Lato" panose="020F0502020204030203" pitchFamily="34" charset="0"/>
      <p:regular r:id="rId41"/>
      <p:bold r:id="rId42"/>
      <p:italic r:id="rId43"/>
      <p:boldItalic r:id="rId44"/>
    </p:embeddedFont>
    <p:embeddedFont>
      <p:font typeface="Wingdings 3" panose="05040102010807070707" pitchFamily="18" charset="2"/>
      <p:regular r:id="rId4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6" y="10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bf6e2ef33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bf6e2ef33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bf6e2ef334_0_15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bf6e2ef334_0_15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bf6e2ef334_0_1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bf6e2ef334_0_1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bf6e2ef334_0_15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bf6e2ef334_0_15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bf6e2ef334_0_15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bf6e2ef334_0_15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bbe258fb6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bbe258fb6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bbe258fb6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bbe258fb66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bbe258fb66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bbe258fb66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bbe258fb66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bbe258fb66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bbe258fb66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bbe258fb66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bbe258fb66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bbe258fb66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bbe258fb66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bbe258fb66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bbe258fb66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bbe258fb66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bbe258fb66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bbe258fb66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bbe258fb66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bbe258fb66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bbe258fb66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bbe258fb66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bbe258fb66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3bbe258fb66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bbe258fb66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bbe258fb66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bbe258fb66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3bbe258fb66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bd1b8835a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bd1b8835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bd1b8835a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bd1b8835a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bf6e2ef334_0_5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bf6e2ef334_0_5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0DFC83B-3EFE-478C-B192-1F7E5BE00046}"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22484127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0DFC83B-3EFE-478C-B192-1F7E5BE00046}"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38777915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FC83B-3EFE-478C-B192-1F7E5BE00046}"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2947461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0DFC83B-3EFE-478C-B192-1F7E5BE00046}"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35980344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DFC83B-3EFE-478C-B192-1F7E5BE00046}"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00245189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0DFC83B-3EFE-478C-B192-1F7E5BE00046}" type="datetimeFigureOut">
              <a:rPr lang="en-US" smtClean="0"/>
              <a:t>3/17/2026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71155579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0DFC83B-3EFE-478C-B192-1F7E5BE00046}" type="datetimeFigureOut">
              <a:rPr lang="en-US" smtClean="0"/>
              <a:t>3/17/2026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744562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60DFC83B-3EFE-478C-B192-1F7E5BE00046}" type="datetimeFigureOut">
              <a:rPr lang="en-US" smtClean="0"/>
              <a:t>3/17/2026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56865051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60DFC83B-3EFE-478C-B192-1F7E5BE00046}"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9297341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60DFC83B-3EFE-478C-B192-1F7E5BE00046}"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9137814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60DFC83B-3EFE-478C-B192-1F7E5BE00046}"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13047174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60DFC83B-3EFE-478C-B192-1F7E5BE00046}"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381384236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FC83B-3EFE-478C-B192-1F7E5BE00046}"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3198484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0DFC83B-3EFE-478C-B192-1F7E5BE00046}" type="datetimeFigureOut">
              <a:rPr lang="en-US" smtClean="0"/>
              <a:t>3/17/2026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3961920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0DFC83B-3EFE-478C-B192-1F7E5BE00046}" type="datetimeFigureOut">
              <a:rPr lang="en-US" smtClean="0"/>
              <a:t>3/17/2026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15919710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DFC83B-3EFE-478C-B192-1F7E5BE00046}"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27329571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DFC83B-3EFE-478C-B192-1F7E5BE00046}"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71322814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ver">
  <p:cSld name="Cover">
    <p:spTree>
      <p:nvGrpSpPr>
        <p:cNvPr id="1" name="Shape 130"/>
        <p:cNvGrpSpPr/>
        <p:nvPr/>
      </p:nvGrpSpPr>
      <p:grpSpPr>
        <a:xfrm>
          <a:off x="0" y="0"/>
          <a:ext cx="0" cy="0"/>
          <a:chOff x="0" y="0"/>
          <a:chExt cx="0" cy="0"/>
        </a:xfrm>
      </p:grpSpPr>
      <p:sp>
        <p:nvSpPr>
          <p:cNvPr id="131" name="Google Shape;131;p13"/>
          <p:cNvSpPr txBox="1">
            <a:spLocks noGrp="1"/>
          </p:cNvSpPr>
          <p:nvPr>
            <p:ph type="title"/>
          </p:nvPr>
        </p:nvSpPr>
        <p:spPr>
          <a:xfrm>
            <a:off x="291800" y="465200"/>
            <a:ext cx="5666400" cy="2047800"/>
          </a:xfrm>
          <a:prstGeom prst="rect">
            <a:avLst/>
          </a:prstGeom>
        </p:spPr>
        <p:txBody>
          <a:bodyPr spcFirstLastPara="1" wrap="square" lIns="0" tIns="0" rIns="0" bIns="0" anchor="t" anchorCtr="0">
            <a:normAutofit/>
          </a:bodyPr>
          <a:lstStyle>
            <a:lvl1pPr lvl="0">
              <a:lnSpc>
                <a:spcPct val="85000"/>
              </a:lnSpc>
              <a:spcBef>
                <a:spcPts val="0"/>
              </a:spcBef>
              <a:spcAft>
                <a:spcPts val="0"/>
              </a:spcAft>
              <a:buClr>
                <a:schemeClr val="lt1"/>
              </a:buClr>
              <a:buSzPts val="6000"/>
              <a:buFont typeface="Instrument Sans SemiBold"/>
              <a:buNone/>
              <a:defRPr sz="6000"/>
            </a:lvl1pPr>
            <a:lvl2pPr lvl="1">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2pPr>
            <a:lvl3pPr lvl="2">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3pPr>
            <a:lvl4pPr lvl="3">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4pPr>
            <a:lvl5pPr lvl="4">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5pPr>
            <a:lvl6pPr lvl="5">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6pPr>
            <a:lvl7pPr lvl="6">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7pPr>
            <a:lvl8pPr lvl="7">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8pPr>
            <a:lvl9pPr lvl="8">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9pPr>
          </a:lstStyle>
          <a:p>
            <a:endParaRPr/>
          </a:p>
        </p:txBody>
      </p:sp>
    </p:spTree>
    <p:extLst>
      <p:ext uri="{BB962C8B-B14F-4D97-AF65-F5344CB8AC3E}">
        <p14:creationId xmlns:p14="http://schemas.microsoft.com/office/powerpoint/2010/main" val="23183509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154"/>
        <p:cNvGrpSpPr/>
        <p:nvPr/>
      </p:nvGrpSpPr>
      <p:grpSpPr>
        <a:xfrm>
          <a:off x="0" y="0"/>
          <a:ext cx="0" cy="0"/>
          <a:chOff x="0" y="0"/>
          <a:chExt cx="0" cy="0"/>
        </a:xfrm>
      </p:grpSpPr>
      <p:sp>
        <p:nvSpPr>
          <p:cNvPr id="156" name="Google Shape;156;p15"/>
          <p:cNvSpPr>
            <a:spLocks noGrp="1"/>
          </p:cNvSpPr>
          <p:nvPr>
            <p:ph type="pic" idx="2"/>
          </p:nvPr>
        </p:nvSpPr>
        <p:spPr>
          <a:xfrm>
            <a:off x="598225" y="3900375"/>
            <a:ext cx="571200" cy="571200"/>
          </a:xfrm>
          <a:prstGeom prst="ellipse">
            <a:avLst/>
          </a:prstGeom>
          <a:noFill/>
          <a:ln>
            <a:noFill/>
          </a:ln>
        </p:spPr>
      </p:sp>
      <p:sp>
        <p:nvSpPr>
          <p:cNvPr id="157" name="Google Shape;157;p15"/>
          <p:cNvSpPr txBox="1">
            <a:spLocks noGrp="1"/>
          </p:cNvSpPr>
          <p:nvPr>
            <p:ph type="title"/>
          </p:nvPr>
        </p:nvSpPr>
        <p:spPr>
          <a:xfrm>
            <a:off x="291800" y="465200"/>
            <a:ext cx="5666400" cy="2047800"/>
          </a:xfrm>
          <a:prstGeom prst="rect">
            <a:avLst/>
          </a:prstGeom>
        </p:spPr>
        <p:txBody>
          <a:bodyPr spcFirstLastPara="1" wrap="square" lIns="0" tIns="0" rIns="0" bIns="0" anchor="t" anchorCtr="0">
            <a:normAutofit/>
          </a:bodyPr>
          <a:lstStyle>
            <a:lvl1pPr lvl="0">
              <a:lnSpc>
                <a:spcPct val="85000"/>
              </a:lnSpc>
              <a:spcBef>
                <a:spcPts val="0"/>
              </a:spcBef>
              <a:spcAft>
                <a:spcPts val="0"/>
              </a:spcAft>
              <a:buClr>
                <a:schemeClr val="lt1"/>
              </a:buClr>
              <a:buSzPts val="6000"/>
              <a:buFont typeface="Instrument Sans SemiBold"/>
              <a:buNone/>
              <a:defRPr sz="6000"/>
            </a:lvl1pPr>
            <a:lvl2pPr lvl="1">
              <a:lnSpc>
                <a:spcPct val="85000"/>
              </a:lnSpc>
              <a:spcBef>
                <a:spcPts val="0"/>
              </a:spcBef>
              <a:spcAft>
                <a:spcPts val="0"/>
              </a:spcAft>
              <a:buClr>
                <a:schemeClr val="lt1"/>
              </a:buClr>
              <a:buSzPts val="6000"/>
              <a:buFont typeface="Instrument Sans SemiBold"/>
              <a:buNone/>
              <a:defRPr sz="6000">
                <a:solidFill>
                  <a:schemeClr val="lt1"/>
                </a:solidFill>
              </a:defRPr>
            </a:lvl2pPr>
            <a:lvl3pPr lvl="2">
              <a:lnSpc>
                <a:spcPct val="85000"/>
              </a:lnSpc>
              <a:spcBef>
                <a:spcPts val="0"/>
              </a:spcBef>
              <a:spcAft>
                <a:spcPts val="0"/>
              </a:spcAft>
              <a:buClr>
                <a:schemeClr val="lt1"/>
              </a:buClr>
              <a:buSzPts val="6000"/>
              <a:buFont typeface="Instrument Sans SemiBold"/>
              <a:buNone/>
              <a:defRPr sz="6000">
                <a:solidFill>
                  <a:schemeClr val="lt1"/>
                </a:solidFill>
              </a:defRPr>
            </a:lvl3pPr>
            <a:lvl4pPr lvl="3">
              <a:lnSpc>
                <a:spcPct val="85000"/>
              </a:lnSpc>
              <a:spcBef>
                <a:spcPts val="0"/>
              </a:spcBef>
              <a:spcAft>
                <a:spcPts val="0"/>
              </a:spcAft>
              <a:buClr>
                <a:schemeClr val="lt1"/>
              </a:buClr>
              <a:buSzPts val="6000"/>
              <a:buFont typeface="Instrument Sans SemiBold"/>
              <a:buNone/>
              <a:defRPr sz="6000">
                <a:solidFill>
                  <a:schemeClr val="lt1"/>
                </a:solidFill>
              </a:defRPr>
            </a:lvl4pPr>
            <a:lvl5pPr lvl="4">
              <a:lnSpc>
                <a:spcPct val="85000"/>
              </a:lnSpc>
              <a:spcBef>
                <a:spcPts val="0"/>
              </a:spcBef>
              <a:spcAft>
                <a:spcPts val="0"/>
              </a:spcAft>
              <a:buClr>
                <a:schemeClr val="lt1"/>
              </a:buClr>
              <a:buSzPts val="6000"/>
              <a:buFont typeface="Instrument Sans SemiBold"/>
              <a:buNone/>
              <a:defRPr sz="6000">
                <a:solidFill>
                  <a:schemeClr val="lt1"/>
                </a:solidFill>
              </a:defRPr>
            </a:lvl5pPr>
            <a:lvl6pPr lvl="5">
              <a:lnSpc>
                <a:spcPct val="85000"/>
              </a:lnSpc>
              <a:spcBef>
                <a:spcPts val="0"/>
              </a:spcBef>
              <a:spcAft>
                <a:spcPts val="0"/>
              </a:spcAft>
              <a:buClr>
                <a:schemeClr val="lt1"/>
              </a:buClr>
              <a:buSzPts val="6000"/>
              <a:buFont typeface="Instrument Sans SemiBold"/>
              <a:buNone/>
              <a:defRPr sz="6000">
                <a:solidFill>
                  <a:schemeClr val="lt1"/>
                </a:solidFill>
              </a:defRPr>
            </a:lvl6pPr>
            <a:lvl7pPr lvl="6">
              <a:lnSpc>
                <a:spcPct val="85000"/>
              </a:lnSpc>
              <a:spcBef>
                <a:spcPts val="0"/>
              </a:spcBef>
              <a:spcAft>
                <a:spcPts val="0"/>
              </a:spcAft>
              <a:buClr>
                <a:schemeClr val="lt1"/>
              </a:buClr>
              <a:buSzPts val="6000"/>
              <a:buFont typeface="Instrument Sans SemiBold"/>
              <a:buNone/>
              <a:defRPr sz="6000">
                <a:solidFill>
                  <a:schemeClr val="lt1"/>
                </a:solidFill>
              </a:defRPr>
            </a:lvl7pPr>
            <a:lvl8pPr lvl="7">
              <a:lnSpc>
                <a:spcPct val="85000"/>
              </a:lnSpc>
              <a:spcBef>
                <a:spcPts val="0"/>
              </a:spcBef>
              <a:spcAft>
                <a:spcPts val="0"/>
              </a:spcAft>
              <a:buClr>
                <a:schemeClr val="lt1"/>
              </a:buClr>
              <a:buSzPts val="6000"/>
              <a:buFont typeface="Instrument Sans SemiBold"/>
              <a:buNone/>
              <a:defRPr sz="6000">
                <a:solidFill>
                  <a:schemeClr val="lt1"/>
                </a:solidFill>
              </a:defRPr>
            </a:lvl8pPr>
            <a:lvl9pPr lvl="8">
              <a:lnSpc>
                <a:spcPct val="85000"/>
              </a:lnSpc>
              <a:spcBef>
                <a:spcPts val="0"/>
              </a:spcBef>
              <a:spcAft>
                <a:spcPts val="0"/>
              </a:spcAft>
              <a:buClr>
                <a:schemeClr val="lt1"/>
              </a:buClr>
              <a:buSzPts val="6000"/>
              <a:buFont typeface="Instrument Sans SemiBold"/>
              <a:buNone/>
              <a:defRPr sz="6000">
                <a:solidFill>
                  <a:schemeClr val="lt1"/>
                </a:solidFill>
              </a:defRPr>
            </a:lvl9pPr>
          </a:lstStyle>
          <a:p>
            <a:endParaRPr/>
          </a:p>
        </p:txBody>
      </p:sp>
      <p:sp>
        <p:nvSpPr>
          <p:cNvPr id="158" name="Google Shape;158;p15"/>
          <p:cNvSpPr txBox="1">
            <a:spLocks noGrp="1"/>
          </p:cNvSpPr>
          <p:nvPr>
            <p:ph type="subTitle" idx="1"/>
          </p:nvPr>
        </p:nvSpPr>
        <p:spPr>
          <a:xfrm>
            <a:off x="1416800" y="3864575"/>
            <a:ext cx="2908800" cy="308400"/>
          </a:xfrm>
          <a:prstGeom prst="rect">
            <a:avLst/>
          </a:prstGeom>
        </p:spPr>
        <p:txBody>
          <a:bodyPr spcFirstLastPara="1" wrap="square" lIns="0" tIns="0" rIns="0" bIns="0" anchor="b" anchorCtr="0">
            <a:normAutofit/>
          </a:bodyPr>
          <a:lstStyle>
            <a:lvl1pPr lvl="0">
              <a:spcBef>
                <a:spcPts val="0"/>
              </a:spcBef>
              <a:spcAft>
                <a:spcPts val="0"/>
              </a:spcAft>
              <a:buClr>
                <a:schemeClr val="lt1"/>
              </a:buClr>
              <a:buSzPts val="1300"/>
              <a:buFont typeface="Instrument Sans"/>
              <a:buNone/>
              <a:defRPr sz="12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100"/>
              <a:buFont typeface="Instrument Sans"/>
              <a:buNone/>
              <a:defRPr>
                <a:solidFill>
                  <a:schemeClr val="lt1"/>
                </a:solidFill>
              </a:defRPr>
            </a:lvl2pPr>
            <a:lvl3pPr lvl="2">
              <a:spcBef>
                <a:spcPts val="0"/>
              </a:spcBef>
              <a:spcAft>
                <a:spcPts val="0"/>
              </a:spcAft>
              <a:buClr>
                <a:schemeClr val="lt1"/>
              </a:buClr>
              <a:buSzPts val="1100"/>
              <a:buFont typeface="Instrument Sans"/>
              <a:buNone/>
              <a:defRPr>
                <a:solidFill>
                  <a:schemeClr val="lt1"/>
                </a:solidFill>
              </a:defRPr>
            </a:lvl3pPr>
            <a:lvl4pPr lvl="3">
              <a:spcBef>
                <a:spcPts val="0"/>
              </a:spcBef>
              <a:spcAft>
                <a:spcPts val="0"/>
              </a:spcAft>
              <a:buClr>
                <a:schemeClr val="lt1"/>
              </a:buClr>
              <a:buSzPts val="1100"/>
              <a:buFont typeface="Instrument Sans"/>
              <a:buNone/>
              <a:defRPr>
                <a:solidFill>
                  <a:schemeClr val="lt1"/>
                </a:solidFill>
              </a:defRPr>
            </a:lvl4pPr>
            <a:lvl5pPr lvl="4">
              <a:spcBef>
                <a:spcPts val="0"/>
              </a:spcBef>
              <a:spcAft>
                <a:spcPts val="0"/>
              </a:spcAft>
              <a:buClr>
                <a:schemeClr val="lt1"/>
              </a:buClr>
              <a:buSzPts val="1100"/>
              <a:buFont typeface="Instrument Sans"/>
              <a:buNone/>
              <a:defRPr>
                <a:solidFill>
                  <a:schemeClr val="lt1"/>
                </a:solidFill>
              </a:defRPr>
            </a:lvl5pPr>
            <a:lvl6pPr lvl="5">
              <a:spcBef>
                <a:spcPts val="0"/>
              </a:spcBef>
              <a:spcAft>
                <a:spcPts val="0"/>
              </a:spcAft>
              <a:buClr>
                <a:schemeClr val="lt1"/>
              </a:buClr>
              <a:buSzPts val="1100"/>
              <a:buFont typeface="Instrument Sans"/>
              <a:buNone/>
              <a:defRPr>
                <a:solidFill>
                  <a:schemeClr val="lt1"/>
                </a:solidFill>
              </a:defRPr>
            </a:lvl6pPr>
            <a:lvl7pPr lvl="6">
              <a:spcBef>
                <a:spcPts val="0"/>
              </a:spcBef>
              <a:spcAft>
                <a:spcPts val="0"/>
              </a:spcAft>
              <a:buClr>
                <a:schemeClr val="lt1"/>
              </a:buClr>
              <a:buSzPts val="1100"/>
              <a:buFont typeface="Instrument Sans"/>
              <a:buNone/>
              <a:defRPr>
                <a:solidFill>
                  <a:schemeClr val="lt1"/>
                </a:solidFill>
              </a:defRPr>
            </a:lvl7pPr>
            <a:lvl8pPr lvl="7">
              <a:spcBef>
                <a:spcPts val="0"/>
              </a:spcBef>
              <a:spcAft>
                <a:spcPts val="0"/>
              </a:spcAft>
              <a:buClr>
                <a:schemeClr val="lt1"/>
              </a:buClr>
              <a:buSzPts val="1100"/>
              <a:buFont typeface="Instrument Sans"/>
              <a:buNone/>
              <a:defRPr>
                <a:solidFill>
                  <a:schemeClr val="lt1"/>
                </a:solidFill>
              </a:defRPr>
            </a:lvl8pPr>
            <a:lvl9pPr lvl="8">
              <a:spcBef>
                <a:spcPts val="0"/>
              </a:spcBef>
              <a:spcAft>
                <a:spcPts val="0"/>
              </a:spcAft>
              <a:buClr>
                <a:schemeClr val="lt1"/>
              </a:buClr>
              <a:buSzPts val="1100"/>
              <a:buFont typeface="Instrument Sans"/>
              <a:buNone/>
              <a:defRPr>
                <a:solidFill>
                  <a:schemeClr val="lt1"/>
                </a:solidFill>
              </a:defRPr>
            </a:lvl9pPr>
          </a:lstStyle>
          <a:p>
            <a:endParaRPr/>
          </a:p>
        </p:txBody>
      </p:sp>
      <p:sp>
        <p:nvSpPr>
          <p:cNvPr id="159" name="Google Shape;159;p15"/>
          <p:cNvSpPr txBox="1">
            <a:spLocks noGrp="1"/>
          </p:cNvSpPr>
          <p:nvPr>
            <p:ph type="subTitle" idx="3"/>
          </p:nvPr>
        </p:nvSpPr>
        <p:spPr>
          <a:xfrm>
            <a:off x="1416800" y="4185969"/>
            <a:ext cx="2908800" cy="308400"/>
          </a:xfrm>
          <a:prstGeom prst="rect">
            <a:avLst/>
          </a:prstGeom>
        </p:spPr>
        <p:txBody>
          <a:bodyPr spcFirstLastPara="1" wrap="square" lIns="0" tIns="0" rIns="0" bIns="0" anchor="t" anchorCtr="0">
            <a:normAutofit/>
          </a:bodyPr>
          <a:lstStyle>
            <a:lvl1pPr lvl="0">
              <a:lnSpc>
                <a:spcPct val="110000"/>
              </a:lnSpc>
              <a:spcBef>
                <a:spcPts val="0"/>
              </a:spcBef>
              <a:spcAft>
                <a:spcPts val="0"/>
              </a:spcAft>
              <a:buNone/>
              <a:defRPr sz="1200" i="1">
                <a:solidFill>
                  <a:schemeClr val="accent5"/>
                </a:solidFill>
                <a:latin typeface="Instrument Sans Medium"/>
                <a:ea typeface="Instrument Sans Medium"/>
                <a:cs typeface="Instrument Sans Medium"/>
                <a:sym typeface="Instrument Sans Medium"/>
              </a:defRPr>
            </a:lvl1pPr>
            <a:lvl2pPr lvl="1">
              <a:spcBef>
                <a:spcPts val="1200"/>
              </a:spcBef>
              <a:spcAft>
                <a:spcPts val="0"/>
              </a:spcAft>
              <a:buClr>
                <a:schemeClr val="accent5"/>
              </a:buClr>
              <a:buSzPts val="1100"/>
              <a:buFont typeface="Instrument Sans"/>
              <a:buNone/>
              <a:defRPr>
                <a:solidFill>
                  <a:schemeClr val="accent5"/>
                </a:solidFill>
              </a:defRPr>
            </a:lvl2pPr>
            <a:lvl3pPr lvl="2">
              <a:spcBef>
                <a:spcPts val="0"/>
              </a:spcBef>
              <a:spcAft>
                <a:spcPts val="0"/>
              </a:spcAft>
              <a:buClr>
                <a:schemeClr val="accent5"/>
              </a:buClr>
              <a:buSzPts val="1100"/>
              <a:buFont typeface="Instrument Sans"/>
              <a:buNone/>
              <a:defRPr>
                <a:solidFill>
                  <a:schemeClr val="accent5"/>
                </a:solidFill>
              </a:defRPr>
            </a:lvl3pPr>
            <a:lvl4pPr lvl="3">
              <a:spcBef>
                <a:spcPts val="0"/>
              </a:spcBef>
              <a:spcAft>
                <a:spcPts val="0"/>
              </a:spcAft>
              <a:buClr>
                <a:schemeClr val="accent5"/>
              </a:buClr>
              <a:buSzPts val="1100"/>
              <a:buFont typeface="Instrument Sans"/>
              <a:buNone/>
              <a:defRPr>
                <a:solidFill>
                  <a:schemeClr val="accent5"/>
                </a:solidFill>
              </a:defRPr>
            </a:lvl4pPr>
            <a:lvl5pPr lvl="4">
              <a:spcBef>
                <a:spcPts val="0"/>
              </a:spcBef>
              <a:spcAft>
                <a:spcPts val="0"/>
              </a:spcAft>
              <a:buClr>
                <a:schemeClr val="accent5"/>
              </a:buClr>
              <a:buSzPts val="1100"/>
              <a:buFont typeface="Instrument Sans"/>
              <a:buNone/>
              <a:defRPr>
                <a:solidFill>
                  <a:schemeClr val="accent5"/>
                </a:solidFill>
              </a:defRPr>
            </a:lvl5pPr>
            <a:lvl6pPr lvl="5">
              <a:spcBef>
                <a:spcPts val="0"/>
              </a:spcBef>
              <a:spcAft>
                <a:spcPts val="0"/>
              </a:spcAft>
              <a:buClr>
                <a:schemeClr val="accent5"/>
              </a:buClr>
              <a:buSzPts val="1100"/>
              <a:buFont typeface="Instrument Sans"/>
              <a:buNone/>
              <a:defRPr>
                <a:solidFill>
                  <a:schemeClr val="accent5"/>
                </a:solidFill>
              </a:defRPr>
            </a:lvl6pPr>
            <a:lvl7pPr lvl="6">
              <a:spcBef>
                <a:spcPts val="0"/>
              </a:spcBef>
              <a:spcAft>
                <a:spcPts val="0"/>
              </a:spcAft>
              <a:buClr>
                <a:schemeClr val="accent5"/>
              </a:buClr>
              <a:buSzPts val="1100"/>
              <a:buFont typeface="Instrument Sans"/>
              <a:buNone/>
              <a:defRPr>
                <a:solidFill>
                  <a:schemeClr val="accent5"/>
                </a:solidFill>
              </a:defRPr>
            </a:lvl7pPr>
            <a:lvl8pPr lvl="7">
              <a:spcBef>
                <a:spcPts val="0"/>
              </a:spcBef>
              <a:spcAft>
                <a:spcPts val="0"/>
              </a:spcAft>
              <a:buClr>
                <a:schemeClr val="accent5"/>
              </a:buClr>
              <a:buSzPts val="1100"/>
              <a:buFont typeface="Instrument Sans"/>
              <a:buNone/>
              <a:defRPr>
                <a:solidFill>
                  <a:schemeClr val="accent5"/>
                </a:solidFill>
              </a:defRPr>
            </a:lvl8pPr>
            <a:lvl9pPr lvl="8">
              <a:spcBef>
                <a:spcPts val="0"/>
              </a:spcBef>
              <a:spcAft>
                <a:spcPts val="0"/>
              </a:spcAft>
              <a:buClr>
                <a:schemeClr val="accent5"/>
              </a:buClr>
              <a:buSzPts val="1100"/>
              <a:buFont typeface="Instrument Sans"/>
              <a:buNone/>
              <a:defRPr>
                <a:solidFill>
                  <a:schemeClr val="accent5"/>
                </a:solidFill>
              </a:defRPr>
            </a:lvl9pPr>
          </a:lstStyle>
          <a:p>
            <a:endParaRPr/>
          </a:p>
        </p:txBody>
      </p:sp>
    </p:spTree>
    <p:extLst>
      <p:ext uri="{BB962C8B-B14F-4D97-AF65-F5344CB8AC3E}">
        <p14:creationId xmlns:p14="http://schemas.microsoft.com/office/powerpoint/2010/main" val="2164786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5.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1">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2">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3">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4">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60DFC83B-3EFE-478C-B192-1F7E5BE00046}" type="datetimeFigureOut">
              <a:rPr lang="en-US" smtClean="0"/>
              <a:t>3/17/2026</a:t>
            </a:fld>
            <a:endParaRPr lang="en-US"/>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128676958"/>
      </p:ext>
    </p:extLst>
  </p:cSld>
  <p:clrMap bg1="dk1" tx1="lt1" bg2="dk2" tx2="lt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8.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8.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hyperlink" Target="https://docs.google.com/document/d/1ObbwCYQqxkhPMQAFDY4w3i5Xkahl4huGMzWZ-sa7DTs/edit?usp=sharing" TargetMode="External"/><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6"/>
          <p:cNvSpPr txBox="1">
            <a:spLocks noGrp="1"/>
          </p:cNvSpPr>
          <p:nvPr>
            <p:ph type="title"/>
          </p:nvPr>
        </p:nvSpPr>
        <p:spPr>
          <a:xfrm>
            <a:off x="291800" y="465200"/>
            <a:ext cx="7970700" cy="4657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br>
              <a:rPr lang="en" sz="3600" dirty="0"/>
            </a:br>
            <a:r>
              <a:rPr lang="en" sz="3600" dirty="0"/>
              <a:t>AN AI - Powered Exam Preparation APP For Aspirants.</a:t>
            </a:r>
            <a:endParaRPr sz="3600" dirty="0"/>
          </a:p>
          <a:p>
            <a:pPr marL="0" lvl="0" indent="0" algn="l" rtl="0">
              <a:spcBef>
                <a:spcPts val="0"/>
              </a:spcBef>
              <a:spcAft>
                <a:spcPts val="0"/>
              </a:spcAft>
              <a:buNone/>
            </a:pPr>
            <a:endParaRPr sz="3600" dirty="0"/>
          </a:p>
          <a:p>
            <a:pPr marL="0" lvl="0" indent="0" algn="l" rtl="0">
              <a:spcBef>
                <a:spcPts val="0"/>
              </a:spcBef>
              <a:spcAft>
                <a:spcPts val="0"/>
              </a:spcAft>
              <a:buNone/>
            </a:pPr>
            <a:endParaRPr sz="3600" dirty="0"/>
          </a:p>
          <a:p>
            <a:pPr marL="0" lvl="0" indent="0" algn="l" rtl="0">
              <a:spcBef>
                <a:spcPts val="0"/>
              </a:spcBef>
              <a:spcAft>
                <a:spcPts val="0"/>
              </a:spcAft>
              <a:buNone/>
            </a:pPr>
            <a:endParaRPr sz="3600" dirty="0"/>
          </a:p>
          <a:p>
            <a:pPr marL="0" lvl="0" indent="0" algn="l" rtl="0">
              <a:spcBef>
                <a:spcPts val="0"/>
              </a:spcBef>
              <a:spcAft>
                <a:spcPts val="0"/>
              </a:spcAft>
              <a:buNone/>
            </a:pPr>
            <a:endParaRPr sz="3600" dirty="0"/>
          </a:p>
          <a:p>
            <a:pPr marL="0" lvl="0" indent="0" algn="l" rtl="0">
              <a:spcBef>
                <a:spcPts val="0"/>
              </a:spcBef>
              <a:spcAft>
                <a:spcPts val="0"/>
              </a:spcAft>
              <a:buNone/>
            </a:pPr>
            <a:r>
              <a:rPr lang="en" sz="3600" dirty="0"/>
              <a:t>													</a:t>
            </a:r>
            <a:r>
              <a:rPr lang="en" sz="1600" dirty="0">
                <a:latin typeface="Times New Roman" panose="02020603050405020304" pitchFamily="18" charset="0"/>
                <a:cs typeface="Times New Roman" panose="02020603050405020304" pitchFamily="18" charset="0"/>
              </a:rPr>
              <a:t>Presented By I RAHUL(192210528)</a:t>
            </a:r>
            <a:endParaRPr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 sz="1600" dirty="0">
                <a:latin typeface="Times New Roman" panose="02020603050405020304" pitchFamily="18" charset="0"/>
                <a:cs typeface="Times New Roman" panose="02020603050405020304" pitchFamily="18" charset="0"/>
              </a:rPr>
              <a:t>													CSE Department</a:t>
            </a:r>
            <a:endParaRPr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 sz="1600" dirty="0">
                <a:latin typeface="Times New Roman" panose="02020603050405020304" pitchFamily="18" charset="0"/>
                <a:cs typeface="Times New Roman" panose="02020603050405020304" pitchFamily="18" charset="0"/>
              </a:rPr>
              <a:t>													SIMATS Engineering</a:t>
            </a:r>
            <a:endParaRPr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sz="3600" dirty="0"/>
          </a:p>
          <a:p>
            <a:pPr marL="0" lvl="0" indent="0" algn="l" rtl="0">
              <a:spcBef>
                <a:spcPts val="0"/>
              </a:spcBef>
              <a:spcAft>
                <a:spcPts val="0"/>
              </a:spcAft>
              <a:buNone/>
            </a:pPr>
            <a:endParaRP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7"/>
          <p:cNvSpPr txBox="1">
            <a:spLocks noGrp="1"/>
          </p:cNvSpPr>
          <p:nvPr>
            <p:ph type="title"/>
          </p:nvPr>
        </p:nvSpPr>
        <p:spPr>
          <a:xfrm>
            <a:off x="98850" y="0"/>
            <a:ext cx="8946300" cy="5143500"/>
          </a:xfrm>
          <a:prstGeom prst="rect">
            <a:avLst/>
          </a:prstGeom>
        </p:spPr>
        <p:txBody>
          <a:bodyPr spcFirstLastPara="1" wrap="square" lIns="0" tIns="0" rIns="0" bIns="0" anchor="t" anchorCtr="0">
            <a:normAutofit fontScale="90000"/>
          </a:bodyPr>
          <a:lstStyle/>
          <a:p>
            <a:pPr marL="1371600" lvl="0" indent="457200" algn="l" rtl="0">
              <a:spcBef>
                <a:spcPts val="0"/>
              </a:spcBef>
              <a:spcAft>
                <a:spcPts val="0"/>
              </a:spcAft>
              <a:buNone/>
            </a:pPr>
            <a:endParaRPr sz="3300" b="1">
              <a:latin typeface="Times New Roman"/>
              <a:ea typeface="Times New Roman"/>
              <a:cs typeface="Times New Roman"/>
              <a:sym typeface="Times New Roman"/>
            </a:endParaRPr>
          </a:p>
          <a:p>
            <a:pPr marL="1371600" lvl="0" indent="457200" algn="l" rtl="0">
              <a:spcBef>
                <a:spcPts val="0"/>
              </a:spcBef>
              <a:spcAft>
                <a:spcPts val="0"/>
              </a:spcAft>
              <a:buNone/>
            </a:pPr>
            <a:r>
              <a:rPr lang="en" sz="3300" b="1">
                <a:latin typeface="Times New Roman"/>
                <a:ea typeface="Times New Roman"/>
                <a:cs typeface="Times New Roman"/>
                <a:sym typeface="Times New Roman"/>
              </a:rPr>
              <a:t>PROJECT OVERVIEW</a:t>
            </a:r>
            <a:endParaRPr sz="3300" b="1">
              <a:latin typeface="Times New Roman"/>
              <a:ea typeface="Times New Roman"/>
              <a:cs typeface="Times New Roman"/>
              <a:sym typeface="Times New Roman"/>
            </a:endParaRPr>
          </a:p>
          <a:p>
            <a:pPr marL="1371600" lvl="0" indent="457200" algn="l" rtl="0">
              <a:spcBef>
                <a:spcPts val="0"/>
              </a:spcBef>
              <a:spcAft>
                <a:spcPts val="0"/>
              </a:spcAft>
              <a:buNone/>
            </a:pPr>
            <a:endParaRPr sz="3300" b="1">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r>
              <a:rPr lang="en" sz="1900" b="1">
                <a:latin typeface="Times New Roman"/>
                <a:ea typeface="Times New Roman"/>
                <a:cs typeface="Times New Roman"/>
                <a:sym typeface="Times New Roman"/>
              </a:rPr>
              <a:t>    THE PRODUCT:</a:t>
            </a:r>
            <a:endParaRPr sz="1900" b="1">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r>
              <a:rPr lang="en" sz="1900" b="1">
                <a:latin typeface="Times New Roman"/>
                <a:ea typeface="Times New Roman"/>
                <a:cs typeface="Times New Roman"/>
                <a:sym typeface="Times New Roman"/>
              </a:rPr>
              <a:t>			</a:t>
            </a:r>
            <a:r>
              <a:rPr lang="en" sz="1800" b="1">
                <a:latin typeface="Times New Roman"/>
                <a:ea typeface="Times New Roman"/>
                <a:cs typeface="Times New Roman"/>
                <a:sym typeface="Times New Roman"/>
              </a:rPr>
              <a:t>The AI-Based Competitive Exam Preparation App is an intelligent, scalable, and cost-effective digital learning solution that helps candidates with instant AI-driven doubt resolution, adaptive mock testing, and organized Previous Year Question (PYQ) practice. To ensure seamless and reliable operation for a broad user base, the product incorporates individualized performance statistics, secure student and administrator access, and a cloud-based architecture. The software improves exam readiness through self-paced and data-driven learning while remaining accessible, efficient, and cost-effective.</a:t>
            </a:r>
            <a:endParaRPr sz="1800" b="1">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endParaRPr sz="1800" b="1">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endParaRPr sz="1800" b="1">
              <a:latin typeface="Times New Roman"/>
              <a:ea typeface="Times New Roman"/>
              <a:cs typeface="Times New Roman"/>
              <a:sym typeface="Times New Roman"/>
            </a:endParaRPr>
          </a:p>
          <a:p>
            <a:pPr marL="0" lvl="0" indent="0" algn="l" rtl="0">
              <a:lnSpc>
                <a:spcPct val="115000"/>
              </a:lnSpc>
              <a:spcBef>
                <a:spcPts val="1400"/>
              </a:spcBef>
              <a:spcAft>
                <a:spcPts val="0"/>
              </a:spcAft>
              <a:buNone/>
            </a:pPr>
            <a:r>
              <a:rPr lang="en" sz="1600" b="1">
                <a:latin typeface="Times New Roman"/>
                <a:ea typeface="Times New Roman"/>
                <a:cs typeface="Times New Roman"/>
                <a:sym typeface="Times New Roman"/>
              </a:rPr>
              <a:t>PROJECT TIMELINE: 11 WEEKS</a:t>
            </a:r>
            <a:endParaRPr sz="1600" b="1">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endParaRPr sz="1800" b="1">
              <a:latin typeface="Times New Roman"/>
              <a:ea typeface="Times New Roman"/>
              <a:cs typeface="Times New Roman"/>
              <a:sym typeface="Times New Roman"/>
            </a:endParaRPr>
          </a:p>
          <a:p>
            <a:pPr marL="0" lvl="0" indent="0" algn="l" rtl="0">
              <a:spcBef>
                <a:spcPts val="0"/>
              </a:spcBef>
              <a:spcAft>
                <a:spcPts val="0"/>
              </a:spcAft>
              <a:buNone/>
            </a:pPr>
            <a:endParaRPr sz="3300" b="1">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8"/>
          <p:cNvSpPr txBox="1">
            <a:spLocks noGrp="1"/>
          </p:cNvSpPr>
          <p:nvPr>
            <p:ph type="title"/>
          </p:nvPr>
        </p:nvSpPr>
        <p:spPr>
          <a:xfrm>
            <a:off x="0" y="82075"/>
            <a:ext cx="9144000" cy="5006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3600" b="1" dirty="0">
                <a:latin typeface="Times New Roman"/>
                <a:ea typeface="Times New Roman"/>
                <a:cs typeface="Times New Roman"/>
                <a:sym typeface="Times New Roman"/>
              </a:rPr>
              <a:t> 				</a:t>
            </a:r>
            <a:endParaRPr sz="3600" b="1" dirty="0">
              <a:latin typeface="Times New Roman"/>
              <a:ea typeface="Times New Roman"/>
              <a:cs typeface="Times New Roman"/>
              <a:sym typeface="Times New Roman"/>
            </a:endParaRPr>
          </a:p>
          <a:p>
            <a:pPr marL="1828800" lvl="0" indent="457200" algn="l" rtl="0">
              <a:spcBef>
                <a:spcPts val="0"/>
              </a:spcBef>
              <a:spcAft>
                <a:spcPts val="0"/>
              </a:spcAft>
              <a:buNone/>
            </a:pPr>
            <a:r>
              <a:rPr lang="en" sz="3600" b="1" dirty="0">
                <a:latin typeface="Times New Roman"/>
                <a:ea typeface="Times New Roman"/>
                <a:cs typeface="Times New Roman"/>
                <a:sym typeface="Times New Roman"/>
              </a:rPr>
              <a:t>PROBLEM STATEMENT</a:t>
            </a:r>
            <a:endParaRPr sz="3600" b="1" dirty="0">
              <a:latin typeface="Times New Roman"/>
              <a:ea typeface="Times New Roman"/>
              <a:cs typeface="Times New Roman"/>
              <a:sym typeface="Times New Roman"/>
            </a:endParaRPr>
          </a:p>
          <a:p>
            <a:pPr marL="1828800" lvl="0" indent="457200" algn="l" rtl="0">
              <a:spcBef>
                <a:spcPts val="0"/>
              </a:spcBef>
              <a:spcAft>
                <a:spcPts val="0"/>
              </a:spcAft>
              <a:buNone/>
            </a:pPr>
            <a:endParaRPr sz="3600" b="1" dirty="0">
              <a:latin typeface="Times New Roman"/>
              <a:ea typeface="Times New Roman"/>
              <a:cs typeface="Times New Roman"/>
              <a:sym typeface="Times New Roman"/>
            </a:endParaRPr>
          </a:p>
          <a:p>
            <a:pPr marL="0" lvl="0" indent="0" algn="ctr" rtl="0">
              <a:spcBef>
                <a:spcPts val="0"/>
              </a:spcBef>
              <a:spcAft>
                <a:spcPts val="0"/>
              </a:spcAft>
              <a:buNone/>
            </a:pPr>
            <a:r>
              <a:rPr lang="en" sz="3600" b="1" dirty="0">
                <a:latin typeface="Times New Roman"/>
                <a:ea typeface="Times New Roman"/>
                <a:cs typeface="Times New Roman"/>
                <a:sym typeface="Times New Roman"/>
              </a:rPr>
              <a:t>	</a:t>
            </a:r>
            <a:r>
              <a:rPr lang="en" sz="1800" b="1" dirty="0">
                <a:latin typeface="Times New Roman"/>
                <a:ea typeface="Times New Roman"/>
                <a:cs typeface="Times New Roman"/>
                <a:sym typeface="Times New Roman"/>
              </a:rPr>
              <a:t>In today's competitive exam market, applicants confront a number of problems, including expensive coaching costs, a lack of individualized learning help, and difficulty tracking exam readiness. Most present platforms rely largely on live classes or generic material distribution, limiting accessibility and failing to properly address individual concerns. Furthermore, students frequently struggle to recognize their weak points and practice effectively, resulting in poor preparation outcomes. The suggested AI-powered app intends to address these issues by offering affordable, self-paced, and tailored exam preparation that includes fast doubt resolution, adaptive mock testing, and performance statistics.</a:t>
            </a:r>
            <a:endParaRPr sz="1800" b="1"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9"/>
          <p:cNvSpPr txBox="1">
            <a:spLocks noGrp="1"/>
          </p:cNvSpPr>
          <p:nvPr>
            <p:ph type="title"/>
          </p:nvPr>
        </p:nvSpPr>
        <p:spPr>
          <a:xfrm>
            <a:off x="-306925" y="0"/>
            <a:ext cx="9144000" cy="51435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endParaRPr sz="3300" b="1" dirty="0">
              <a:latin typeface="Times New Roman"/>
              <a:ea typeface="Times New Roman"/>
              <a:cs typeface="Times New Roman"/>
              <a:sym typeface="Times New Roman"/>
            </a:endParaRPr>
          </a:p>
          <a:p>
            <a:pPr marL="2286000" lvl="0" indent="457200" algn="l" rtl="0">
              <a:spcBef>
                <a:spcPts val="0"/>
              </a:spcBef>
              <a:spcAft>
                <a:spcPts val="0"/>
              </a:spcAft>
              <a:buNone/>
            </a:pPr>
            <a:r>
              <a:rPr lang="en" sz="3300" b="1" dirty="0">
                <a:latin typeface="Times New Roman"/>
                <a:ea typeface="Times New Roman"/>
                <a:cs typeface="Times New Roman"/>
                <a:sym typeface="Times New Roman"/>
              </a:rPr>
              <a:t>PROJECT OVERVIEW</a:t>
            </a:r>
            <a:endParaRPr sz="3300" b="1" dirty="0">
              <a:latin typeface="Times New Roman"/>
              <a:ea typeface="Times New Roman"/>
              <a:cs typeface="Times New Roman"/>
              <a:sym typeface="Times New Roman"/>
            </a:endParaRPr>
          </a:p>
          <a:p>
            <a:pPr marL="2286000" lvl="0" indent="457200" algn="l" rtl="0">
              <a:spcBef>
                <a:spcPts val="0"/>
              </a:spcBef>
              <a:spcAft>
                <a:spcPts val="0"/>
              </a:spcAft>
              <a:buNone/>
            </a:pPr>
            <a:endParaRPr sz="3300" b="1" dirty="0">
              <a:latin typeface="Times New Roman"/>
              <a:ea typeface="Times New Roman"/>
              <a:cs typeface="Times New Roman"/>
              <a:sym typeface="Times New Roman"/>
            </a:endParaRPr>
          </a:p>
          <a:p>
            <a:pPr marL="0" lvl="0" indent="0" algn="l" rtl="0">
              <a:spcBef>
                <a:spcPts val="0"/>
              </a:spcBef>
              <a:spcAft>
                <a:spcPts val="0"/>
              </a:spcAft>
              <a:buNone/>
            </a:pPr>
            <a:r>
              <a:rPr lang="en" sz="3300" b="1" dirty="0">
                <a:latin typeface="Times New Roman"/>
                <a:ea typeface="Times New Roman"/>
                <a:cs typeface="Times New Roman"/>
                <a:sym typeface="Times New Roman"/>
              </a:rPr>
              <a:t>	</a:t>
            </a:r>
            <a:r>
              <a:rPr lang="en" sz="2000" b="1" dirty="0">
                <a:latin typeface="Times New Roman"/>
                <a:ea typeface="Times New Roman"/>
                <a:cs typeface="Times New Roman"/>
                <a:sym typeface="Times New Roman"/>
              </a:rPr>
              <a:t>Problem:</a:t>
            </a:r>
            <a:endParaRPr sz="2000" b="1" dirty="0">
              <a:latin typeface="Times New Roman"/>
              <a:ea typeface="Times New Roman"/>
              <a:cs typeface="Times New Roman"/>
              <a:sym typeface="Times New Roman"/>
            </a:endParaRPr>
          </a:p>
          <a:p>
            <a:pPr marL="0" lvl="0" indent="0" algn="l" rtl="0">
              <a:spcBef>
                <a:spcPts val="0"/>
              </a:spcBef>
              <a:spcAft>
                <a:spcPts val="0"/>
              </a:spcAft>
              <a:buNone/>
            </a:pPr>
            <a:endParaRPr sz="2000" b="1" dirty="0">
              <a:latin typeface="Times New Roman"/>
              <a:ea typeface="Times New Roman"/>
              <a:cs typeface="Times New Roman"/>
              <a:sym typeface="Times New Roman"/>
            </a:endParaRPr>
          </a:p>
          <a:p>
            <a:pPr marL="0" lvl="0" indent="457200" algn="l" rtl="0">
              <a:spcBef>
                <a:spcPts val="0"/>
              </a:spcBef>
              <a:spcAft>
                <a:spcPts val="0"/>
              </a:spcAft>
              <a:buNone/>
            </a:pPr>
            <a:r>
              <a:rPr lang="en" sz="2000" b="1" dirty="0">
                <a:latin typeface="Times New Roman"/>
                <a:ea typeface="Times New Roman"/>
                <a:cs typeface="Times New Roman"/>
                <a:sym typeface="Times New Roman"/>
              </a:rPr>
              <a:t>										</a:t>
            </a:r>
            <a:endParaRPr sz="2000" b="1" dirty="0">
              <a:solidFill>
                <a:schemeClr val="dk1"/>
              </a:solidFill>
              <a:latin typeface="Times New Roman"/>
              <a:ea typeface="Times New Roman"/>
              <a:cs typeface="Times New Roman"/>
              <a:sym typeface="Times New Roman"/>
            </a:endParaRPr>
          </a:p>
        </p:txBody>
      </p:sp>
      <p:sp>
        <p:nvSpPr>
          <p:cNvPr id="184" name="Google Shape;184;p19"/>
          <p:cNvSpPr txBox="1"/>
          <p:nvPr/>
        </p:nvSpPr>
        <p:spPr>
          <a:xfrm>
            <a:off x="0" y="1032850"/>
            <a:ext cx="4131300" cy="363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300" dirty="0">
              <a:solidFill>
                <a:schemeClr val="lt1"/>
              </a:solidFill>
              <a:latin typeface="Lato"/>
              <a:ea typeface="Lato"/>
              <a:cs typeface="Lato"/>
              <a:sym typeface="Lato"/>
            </a:endParaRPr>
          </a:p>
          <a:p>
            <a:pPr marL="0" lvl="0" indent="0" algn="l" rtl="0">
              <a:spcBef>
                <a:spcPts val="0"/>
              </a:spcBef>
              <a:spcAft>
                <a:spcPts val="0"/>
              </a:spcAft>
              <a:buNone/>
            </a:pPr>
            <a:endParaRPr sz="1300" dirty="0">
              <a:solidFill>
                <a:schemeClr val="lt1"/>
              </a:solidFill>
              <a:latin typeface="Lato"/>
              <a:ea typeface="Lato"/>
              <a:cs typeface="Lato"/>
              <a:sym typeface="Lato"/>
            </a:endParaRPr>
          </a:p>
          <a:p>
            <a:pPr marL="0" lvl="0" indent="0" algn="l" rtl="0">
              <a:spcBef>
                <a:spcPts val="0"/>
              </a:spcBef>
              <a:spcAft>
                <a:spcPts val="0"/>
              </a:spcAft>
              <a:buNone/>
            </a:pPr>
            <a:endParaRPr sz="1300" dirty="0">
              <a:solidFill>
                <a:schemeClr val="lt1"/>
              </a:solidFill>
              <a:latin typeface="Lato"/>
              <a:ea typeface="Lato"/>
              <a:cs typeface="Lato"/>
              <a:sym typeface="Lato"/>
            </a:endParaRPr>
          </a:p>
          <a:p>
            <a:pPr marL="457200" lvl="0" indent="-323850" algn="l" rtl="0">
              <a:spcBef>
                <a:spcPts val="0"/>
              </a:spcBef>
              <a:spcAft>
                <a:spcPts val="0"/>
              </a:spcAft>
              <a:buClr>
                <a:schemeClr val="lt1"/>
              </a:buClr>
              <a:buSzPts val="1500"/>
              <a:buFont typeface="Times New Roman"/>
              <a:buChar char="●"/>
            </a:pPr>
            <a:r>
              <a:rPr lang="en" sz="1500" dirty="0">
                <a:solidFill>
                  <a:schemeClr val="lt1"/>
                </a:solidFill>
                <a:latin typeface="Times New Roman"/>
                <a:ea typeface="Times New Roman"/>
                <a:cs typeface="Times New Roman"/>
                <a:sym typeface="Times New Roman"/>
              </a:rPr>
              <a:t>Many existing platforms rely on expensive live classes and premium subscriptions, making quality preparation inaccessible for a large segment of students.</a:t>
            </a:r>
            <a:br>
              <a:rPr lang="en" sz="1500" dirty="0">
                <a:solidFill>
                  <a:schemeClr val="lt1"/>
                </a:solidFill>
                <a:latin typeface="Times New Roman"/>
                <a:ea typeface="Times New Roman"/>
                <a:cs typeface="Times New Roman"/>
                <a:sym typeface="Times New Roman"/>
              </a:rPr>
            </a:br>
            <a:endParaRPr sz="1500" dirty="0">
              <a:solidFill>
                <a:schemeClr val="lt1"/>
              </a:solidFill>
              <a:latin typeface="Times New Roman"/>
              <a:ea typeface="Times New Roman"/>
              <a:cs typeface="Times New Roman"/>
              <a:sym typeface="Times New Roman"/>
            </a:endParaRPr>
          </a:p>
          <a:p>
            <a:pPr marL="457200" lvl="0" indent="-323850" algn="l" rtl="0">
              <a:spcBef>
                <a:spcPts val="0"/>
              </a:spcBef>
              <a:spcAft>
                <a:spcPts val="0"/>
              </a:spcAft>
              <a:buClr>
                <a:schemeClr val="lt1"/>
              </a:buClr>
              <a:buSzPts val="1500"/>
              <a:buFont typeface="Times New Roman"/>
              <a:buChar char="●"/>
            </a:pPr>
            <a:r>
              <a:rPr lang="en" sz="1500" dirty="0">
                <a:solidFill>
                  <a:schemeClr val="lt1"/>
                </a:solidFill>
                <a:latin typeface="Times New Roman"/>
                <a:ea typeface="Times New Roman"/>
                <a:cs typeface="Times New Roman"/>
                <a:sym typeface="Times New Roman"/>
              </a:rPr>
              <a:t>Generic apps fail to provide instant, tailored doubt resolution and adaptive practice, limiting students’ ability to address individual weaknesses.</a:t>
            </a:r>
            <a:br>
              <a:rPr lang="en" sz="1500" dirty="0">
                <a:solidFill>
                  <a:schemeClr val="lt1"/>
                </a:solidFill>
                <a:latin typeface="Times New Roman"/>
                <a:ea typeface="Times New Roman"/>
                <a:cs typeface="Times New Roman"/>
                <a:sym typeface="Times New Roman"/>
              </a:rPr>
            </a:br>
            <a:endParaRPr sz="1500" dirty="0">
              <a:solidFill>
                <a:schemeClr val="lt1"/>
              </a:solidFill>
              <a:latin typeface="Times New Roman"/>
              <a:ea typeface="Times New Roman"/>
              <a:cs typeface="Times New Roman"/>
              <a:sym typeface="Times New Roman"/>
            </a:endParaRPr>
          </a:p>
          <a:p>
            <a:pPr marL="457200" lvl="0" indent="-323850" algn="l" rtl="0">
              <a:spcBef>
                <a:spcPts val="0"/>
              </a:spcBef>
              <a:spcAft>
                <a:spcPts val="0"/>
              </a:spcAft>
              <a:buClr>
                <a:schemeClr val="lt1"/>
              </a:buClr>
              <a:buSzPts val="1500"/>
              <a:buFont typeface="Times New Roman"/>
              <a:buChar char="●"/>
            </a:pPr>
            <a:r>
              <a:rPr lang="en" sz="1500" dirty="0">
                <a:solidFill>
                  <a:schemeClr val="lt1"/>
                </a:solidFill>
                <a:latin typeface="Times New Roman"/>
                <a:ea typeface="Times New Roman"/>
                <a:cs typeface="Times New Roman"/>
                <a:sym typeface="Times New Roman"/>
              </a:rPr>
              <a:t>Students often struggle to monitor their progress or identify weak areas effectively, resulting in less focused preparation and lower exam performance.</a:t>
            </a:r>
            <a:endParaRPr sz="1500" dirty="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1300" dirty="0">
              <a:solidFill>
                <a:schemeClr val="lt1"/>
              </a:solidFill>
              <a:latin typeface="Lato"/>
              <a:ea typeface="Lato"/>
              <a:cs typeface="Lato"/>
              <a:sym typeface="Lato"/>
            </a:endParaRPr>
          </a:p>
        </p:txBody>
      </p:sp>
      <p:sp>
        <p:nvSpPr>
          <p:cNvPr id="185" name="Google Shape;185;p19"/>
          <p:cNvSpPr txBox="1"/>
          <p:nvPr/>
        </p:nvSpPr>
        <p:spPr>
          <a:xfrm>
            <a:off x="4705775" y="1299550"/>
            <a:ext cx="4131300" cy="310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lt1"/>
                </a:solidFill>
                <a:latin typeface="Times New Roman"/>
                <a:ea typeface="Times New Roman"/>
                <a:cs typeface="Times New Roman"/>
                <a:sym typeface="Times New Roman"/>
              </a:rPr>
              <a:t>Goal:</a:t>
            </a:r>
            <a:endParaRPr sz="2000">
              <a:solidFill>
                <a:schemeClr val="lt1"/>
              </a:solidFill>
              <a:latin typeface="Times New Roman"/>
              <a:ea typeface="Times New Roman"/>
              <a:cs typeface="Times New Roman"/>
              <a:sym typeface="Times New Roman"/>
            </a:endParaRPr>
          </a:p>
          <a:p>
            <a:pPr marL="457200" lvl="0" indent="-330200" algn="l" rtl="0">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To provide affordable, AI-powered and personalized competitive exam preparation accessible to all aspirants.</a:t>
            </a:r>
            <a:endParaRPr sz="1600">
              <a:solidFill>
                <a:schemeClr val="lt1"/>
              </a:solidFill>
              <a:latin typeface="Times New Roman"/>
              <a:ea typeface="Times New Roman"/>
              <a:cs typeface="Times New Roman"/>
              <a:sym typeface="Times New Roman"/>
            </a:endParaRPr>
          </a:p>
          <a:p>
            <a:pPr marL="457200" lvl="0" indent="0" algn="l" rtl="0">
              <a:spcBef>
                <a:spcPts val="0"/>
              </a:spcBef>
              <a:spcAft>
                <a:spcPts val="0"/>
              </a:spcAft>
              <a:buNone/>
            </a:pPr>
            <a:endParaRPr sz="1600">
              <a:solidFill>
                <a:schemeClr val="lt1"/>
              </a:solidFill>
              <a:latin typeface="Times New Roman"/>
              <a:ea typeface="Times New Roman"/>
              <a:cs typeface="Times New Roman"/>
              <a:sym typeface="Times New Roman"/>
            </a:endParaRPr>
          </a:p>
          <a:p>
            <a:pPr marL="457200" lvl="0" indent="-330200" algn="l" rtl="0">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To improve exam success rates through instant doubt resolution, adaptive mock testing, and data-driven performance analytics.</a:t>
            </a:r>
            <a:br>
              <a:rPr lang="en" sz="1600">
                <a:solidFill>
                  <a:schemeClr val="lt1"/>
                </a:solidFill>
                <a:latin typeface="Times New Roman"/>
                <a:ea typeface="Times New Roman"/>
                <a:cs typeface="Times New Roman"/>
                <a:sym typeface="Times New Roman"/>
              </a:rPr>
            </a:br>
            <a:endParaRPr sz="1600">
              <a:solidFill>
                <a:schemeClr val="lt1"/>
              </a:solidFill>
              <a:latin typeface="Times New Roman"/>
              <a:ea typeface="Times New Roman"/>
              <a:cs typeface="Times New Roman"/>
              <a:sym typeface="Times New Roman"/>
            </a:endParaRPr>
          </a:p>
          <a:p>
            <a:pPr marL="457200" lvl="0" indent="0" algn="l" rtl="0">
              <a:spcBef>
                <a:spcPts val="0"/>
              </a:spcBef>
              <a:spcAft>
                <a:spcPts val="0"/>
              </a:spcAft>
              <a:buNone/>
            </a:pPr>
            <a:endParaRPr sz="16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0"/>
          <p:cNvSpPr txBox="1">
            <a:spLocks noGrp="1"/>
          </p:cNvSpPr>
          <p:nvPr>
            <p:ph type="title"/>
          </p:nvPr>
        </p:nvSpPr>
        <p:spPr>
          <a:xfrm>
            <a:off x="0" y="0"/>
            <a:ext cx="9042300" cy="50205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dirty="0"/>
              <a:t>	</a:t>
            </a:r>
            <a:r>
              <a:rPr lang="en" sz="3600" dirty="0"/>
              <a:t>	</a:t>
            </a:r>
            <a:r>
              <a:rPr lang="en" sz="3300" b="1" dirty="0">
                <a:latin typeface="Times New Roman"/>
                <a:ea typeface="Times New Roman"/>
                <a:cs typeface="Times New Roman"/>
                <a:sym typeface="Times New Roman"/>
              </a:rPr>
              <a:t>PROJECT OVERVIEW</a:t>
            </a:r>
            <a:endParaRPr sz="3600" dirty="0"/>
          </a:p>
        </p:txBody>
      </p:sp>
      <p:sp>
        <p:nvSpPr>
          <p:cNvPr id="191" name="Google Shape;191;p20"/>
          <p:cNvSpPr txBox="1"/>
          <p:nvPr/>
        </p:nvSpPr>
        <p:spPr>
          <a:xfrm>
            <a:off x="287275" y="1080675"/>
            <a:ext cx="4035600" cy="406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lt1"/>
                </a:solidFill>
                <a:latin typeface="Times New Roman"/>
                <a:ea typeface="Times New Roman"/>
                <a:cs typeface="Times New Roman"/>
                <a:sym typeface="Times New Roman"/>
              </a:rPr>
              <a:t>My role:</a:t>
            </a:r>
            <a:endParaRPr sz="2000">
              <a:solidFill>
                <a:schemeClr val="lt1"/>
              </a:solidFill>
              <a:latin typeface="Times New Roman"/>
              <a:ea typeface="Times New Roman"/>
              <a:cs typeface="Times New Roman"/>
              <a:sym typeface="Times New Roman"/>
            </a:endParaRPr>
          </a:p>
          <a:p>
            <a:pPr marL="457200" lvl="0" indent="-355600" algn="l" rtl="0">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Designed and conceptualized the AI-based competitive exam preparation platform, defining its architecture, features, and system workflow.</a:t>
            </a:r>
            <a:endParaRPr sz="2000">
              <a:solidFill>
                <a:schemeClr val="lt1"/>
              </a:solidFill>
              <a:latin typeface="Times New Roman"/>
              <a:ea typeface="Times New Roman"/>
              <a:cs typeface="Times New Roman"/>
              <a:sym typeface="Times New Roman"/>
            </a:endParaRPr>
          </a:p>
          <a:p>
            <a:pPr marL="457200" lvl="0" indent="0" algn="l" rtl="0">
              <a:spcBef>
                <a:spcPts val="0"/>
              </a:spcBef>
              <a:spcAft>
                <a:spcPts val="0"/>
              </a:spcAft>
              <a:buNone/>
            </a:pPr>
            <a:endParaRPr sz="2000">
              <a:solidFill>
                <a:schemeClr val="lt1"/>
              </a:solidFill>
              <a:latin typeface="Times New Roman"/>
              <a:ea typeface="Times New Roman"/>
              <a:cs typeface="Times New Roman"/>
              <a:sym typeface="Times New Roman"/>
            </a:endParaRPr>
          </a:p>
          <a:p>
            <a:pPr marL="457200" lvl="0" indent="-355600" algn="l" rtl="0">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Led the development planning, including AI logic design, mock test framework, database structure, and overall project documentation.</a:t>
            </a:r>
            <a:endParaRPr sz="20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2000">
              <a:solidFill>
                <a:schemeClr val="lt1"/>
              </a:solidFill>
              <a:latin typeface="Times New Roman"/>
              <a:ea typeface="Times New Roman"/>
              <a:cs typeface="Times New Roman"/>
              <a:sym typeface="Times New Roman"/>
            </a:endParaRPr>
          </a:p>
        </p:txBody>
      </p:sp>
      <p:sp>
        <p:nvSpPr>
          <p:cNvPr id="192" name="Google Shape;192;p20"/>
          <p:cNvSpPr txBox="1"/>
          <p:nvPr/>
        </p:nvSpPr>
        <p:spPr>
          <a:xfrm>
            <a:off x="4473200" y="1080675"/>
            <a:ext cx="4185900" cy="384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lt1"/>
                </a:solidFill>
                <a:latin typeface="Times New Roman"/>
                <a:ea typeface="Times New Roman"/>
                <a:cs typeface="Times New Roman"/>
                <a:sym typeface="Times New Roman"/>
              </a:rPr>
              <a:t>My responsibilities:</a:t>
            </a:r>
            <a:endParaRPr sz="2000">
              <a:solidFill>
                <a:schemeClr val="lt1"/>
              </a:solidFill>
              <a:latin typeface="Times New Roman"/>
              <a:ea typeface="Times New Roman"/>
              <a:cs typeface="Times New Roman"/>
              <a:sym typeface="Times New Roman"/>
            </a:endParaRPr>
          </a:p>
          <a:p>
            <a:pPr marL="457200" lvl="0" indent="-355600" algn="l" rtl="0">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Responsible for system design, AI model logic planning, database structuring, and defining the overall application architecture.</a:t>
            </a:r>
            <a:br>
              <a:rPr lang="en" sz="2000">
                <a:solidFill>
                  <a:schemeClr val="lt1"/>
                </a:solidFill>
                <a:latin typeface="Times New Roman"/>
                <a:ea typeface="Times New Roman"/>
                <a:cs typeface="Times New Roman"/>
                <a:sym typeface="Times New Roman"/>
              </a:rPr>
            </a:br>
            <a:endParaRPr sz="2000">
              <a:solidFill>
                <a:schemeClr val="lt1"/>
              </a:solidFill>
              <a:latin typeface="Times New Roman"/>
              <a:ea typeface="Times New Roman"/>
              <a:cs typeface="Times New Roman"/>
              <a:sym typeface="Times New Roman"/>
            </a:endParaRPr>
          </a:p>
          <a:p>
            <a:pPr marL="457200" lvl="0" indent="-355600" algn="l" rtl="0">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Responsible for coordinating development tasks, ensuring security standards, maintaining documentation, and validating performance and functionality of the platform.</a:t>
            </a:r>
            <a:endParaRPr sz="20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20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1"/>
          <p:cNvSpPr txBox="1">
            <a:spLocks noGrp="1"/>
          </p:cNvSpPr>
          <p:nvPr>
            <p:ph type="title"/>
          </p:nvPr>
        </p:nvSpPr>
        <p:spPr>
          <a:xfrm>
            <a:off x="0" y="0"/>
            <a:ext cx="9083100" cy="5047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endParaRPr/>
          </a:p>
        </p:txBody>
      </p:sp>
      <p:pic>
        <p:nvPicPr>
          <p:cNvPr id="198" name="Google Shape;198;p2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2"/>
          <p:cNvSpPr txBox="1">
            <a:spLocks noGrp="1"/>
          </p:cNvSpPr>
          <p:nvPr>
            <p:ph type="title"/>
          </p:nvPr>
        </p:nvSpPr>
        <p:spPr>
          <a:xfrm>
            <a:off x="0" y="0"/>
            <a:ext cx="9083100" cy="5075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endParaRPr/>
          </a:p>
        </p:txBody>
      </p:sp>
      <p:pic>
        <p:nvPicPr>
          <p:cNvPr id="204" name="Google Shape;204;p22"/>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3"/>
          <p:cNvSpPr txBox="1">
            <a:spLocks noGrp="1"/>
          </p:cNvSpPr>
          <p:nvPr>
            <p:ph type="title"/>
          </p:nvPr>
        </p:nvSpPr>
        <p:spPr>
          <a:xfrm>
            <a:off x="0" y="0"/>
            <a:ext cx="9055800" cy="5061300"/>
          </a:xfrm>
          <a:prstGeom prst="rect">
            <a:avLst/>
          </a:prstGeom>
        </p:spPr>
        <p:txBody>
          <a:bodyPr spcFirstLastPara="1" wrap="square" lIns="0" tIns="0" rIns="0" bIns="0" anchor="t" anchorCtr="0">
            <a:normAutofit/>
          </a:bodyPr>
          <a:lstStyle/>
          <a:p>
            <a:pPr marL="914400" lvl="0" indent="457200" algn="l" rtl="0">
              <a:spcBef>
                <a:spcPts val="0"/>
              </a:spcBef>
              <a:spcAft>
                <a:spcPts val="0"/>
              </a:spcAft>
              <a:buNone/>
            </a:pPr>
            <a:endParaRPr sz="3300" b="1">
              <a:latin typeface="Times New Roman"/>
              <a:ea typeface="Times New Roman"/>
              <a:cs typeface="Times New Roman"/>
              <a:sym typeface="Times New Roman"/>
            </a:endParaRPr>
          </a:p>
          <a:p>
            <a:pPr marL="914400" lvl="0" indent="457200" algn="l" rtl="0">
              <a:spcBef>
                <a:spcPts val="0"/>
              </a:spcBef>
              <a:spcAft>
                <a:spcPts val="0"/>
              </a:spcAft>
              <a:buNone/>
            </a:pPr>
            <a:r>
              <a:rPr lang="en" sz="3300" b="1">
                <a:latin typeface="Times New Roman"/>
                <a:ea typeface="Times New Roman"/>
                <a:cs typeface="Times New Roman"/>
                <a:sym typeface="Times New Roman"/>
              </a:rPr>
              <a:t>UNDERSTANDING THE USERS</a:t>
            </a:r>
            <a:endParaRPr sz="3300" b="1">
              <a:latin typeface="Times New Roman"/>
              <a:ea typeface="Times New Roman"/>
              <a:cs typeface="Times New Roman"/>
              <a:sym typeface="Times New Roman"/>
            </a:endParaRPr>
          </a:p>
          <a:p>
            <a:pPr marL="914400" lvl="0" indent="457200" algn="l" rtl="0">
              <a:spcBef>
                <a:spcPts val="0"/>
              </a:spcBef>
              <a:spcAft>
                <a:spcPts val="0"/>
              </a:spcAft>
              <a:buNone/>
            </a:pPr>
            <a:endParaRPr sz="3300" b="1">
              <a:latin typeface="Times New Roman"/>
              <a:ea typeface="Times New Roman"/>
              <a:cs typeface="Times New Roman"/>
              <a:sym typeface="Times New Roman"/>
            </a:endParaRPr>
          </a:p>
          <a:p>
            <a:pPr marL="0" lvl="0" indent="0" algn="l" rtl="0">
              <a:spcBef>
                <a:spcPts val="0"/>
              </a:spcBef>
              <a:spcAft>
                <a:spcPts val="0"/>
              </a:spcAft>
              <a:buNone/>
            </a:pPr>
            <a:endParaRPr sz="3300" b="1">
              <a:latin typeface="Times New Roman"/>
              <a:ea typeface="Times New Roman"/>
              <a:cs typeface="Times New Roman"/>
              <a:sym typeface="Times New Roman"/>
            </a:endParaRPr>
          </a:p>
        </p:txBody>
      </p:sp>
      <p:sp>
        <p:nvSpPr>
          <p:cNvPr id="210" name="Google Shape;210;p23"/>
          <p:cNvSpPr txBox="1"/>
          <p:nvPr/>
        </p:nvSpPr>
        <p:spPr>
          <a:xfrm>
            <a:off x="2380275" y="1409000"/>
            <a:ext cx="5075100" cy="3105300"/>
          </a:xfrm>
          <a:prstGeom prst="rect">
            <a:avLst/>
          </a:prstGeom>
          <a:noFill/>
          <a:ln>
            <a:noFill/>
          </a:ln>
        </p:spPr>
        <p:txBody>
          <a:bodyPr spcFirstLastPara="1" wrap="square" lIns="91425" tIns="91425" rIns="91425" bIns="91425" anchor="t" anchorCtr="0">
            <a:noAutofit/>
          </a:bodyPr>
          <a:lstStyle/>
          <a:p>
            <a:pPr marL="457200" lvl="0" indent="-381000" algn="l" rtl="0">
              <a:lnSpc>
                <a:spcPct val="115000"/>
              </a:lnSpc>
              <a:spcBef>
                <a:spcPts val="0"/>
              </a:spcBef>
              <a:spcAft>
                <a:spcPts val="0"/>
              </a:spcAft>
              <a:buClr>
                <a:schemeClr val="lt1"/>
              </a:buClr>
              <a:buSzPts val="2400"/>
              <a:buFont typeface="Times New Roman"/>
              <a:buChar char="●"/>
            </a:pPr>
            <a:r>
              <a:rPr lang="en" sz="2400">
                <a:solidFill>
                  <a:schemeClr val="lt1"/>
                </a:solidFill>
                <a:latin typeface="Times New Roman"/>
                <a:ea typeface="Times New Roman"/>
                <a:cs typeface="Times New Roman"/>
                <a:sym typeface="Times New Roman"/>
              </a:rPr>
              <a:t> Aspirants(Preparing Govt. Exams)</a:t>
            </a:r>
            <a:endParaRPr sz="2400">
              <a:solidFill>
                <a:schemeClr val="lt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None/>
            </a:pPr>
            <a:endParaRPr sz="2400">
              <a:solidFill>
                <a:schemeClr val="lt1"/>
              </a:solidFill>
              <a:latin typeface="Times New Roman"/>
              <a:ea typeface="Times New Roman"/>
              <a:cs typeface="Times New Roman"/>
              <a:sym typeface="Times New Roman"/>
            </a:endParaRPr>
          </a:p>
          <a:p>
            <a:pPr marL="457200" lvl="0" indent="-381000" algn="l" rtl="0">
              <a:lnSpc>
                <a:spcPct val="115000"/>
              </a:lnSpc>
              <a:spcBef>
                <a:spcPts val="0"/>
              </a:spcBef>
              <a:spcAft>
                <a:spcPts val="0"/>
              </a:spcAft>
              <a:buClr>
                <a:schemeClr val="lt1"/>
              </a:buClr>
              <a:buSzPts val="2400"/>
              <a:buFont typeface="Times New Roman"/>
              <a:buChar char="●"/>
            </a:pPr>
            <a:r>
              <a:rPr lang="en" sz="2400">
                <a:solidFill>
                  <a:schemeClr val="lt1"/>
                </a:solidFill>
                <a:latin typeface="Times New Roman"/>
                <a:ea typeface="Times New Roman"/>
                <a:cs typeface="Times New Roman"/>
                <a:sym typeface="Times New Roman"/>
              </a:rPr>
              <a:t> Students(Preparing for aptitude)</a:t>
            </a:r>
            <a:endParaRPr sz="24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24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4"/>
          <p:cNvSpPr txBox="1">
            <a:spLocks noGrp="1"/>
          </p:cNvSpPr>
          <p:nvPr>
            <p:ph type="title"/>
          </p:nvPr>
        </p:nvSpPr>
        <p:spPr>
          <a:xfrm>
            <a:off x="0" y="0"/>
            <a:ext cx="9083100" cy="50613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3400" dirty="0">
                <a:latin typeface="Times New Roman"/>
                <a:ea typeface="Times New Roman"/>
                <a:cs typeface="Times New Roman"/>
                <a:sym typeface="Times New Roman"/>
              </a:rPr>
              <a:t>										Aspirants</a:t>
            </a:r>
            <a:endParaRPr sz="3400" dirty="0">
              <a:latin typeface="Times New Roman"/>
              <a:ea typeface="Times New Roman"/>
              <a:cs typeface="Times New Roman"/>
              <a:sym typeface="Times New Roman"/>
            </a:endParaRPr>
          </a:p>
        </p:txBody>
      </p:sp>
      <p:sp>
        <p:nvSpPr>
          <p:cNvPr id="216" name="Google Shape;216;p24"/>
          <p:cNvSpPr txBox="1"/>
          <p:nvPr/>
        </p:nvSpPr>
        <p:spPr>
          <a:xfrm>
            <a:off x="4229750" y="694200"/>
            <a:ext cx="4762500" cy="427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600" b="1">
                <a:solidFill>
                  <a:schemeClr val="lt1"/>
                </a:solidFill>
                <a:latin typeface="Times New Roman"/>
                <a:ea typeface="Times New Roman"/>
                <a:cs typeface="Times New Roman"/>
                <a:sym typeface="Times New Roman"/>
              </a:rPr>
              <a:t>Goal:</a:t>
            </a:r>
            <a:br>
              <a:rPr lang="en" sz="1600" b="1">
                <a:solidFill>
                  <a:schemeClr val="lt1"/>
                </a:solidFill>
                <a:latin typeface="Times New Roman"/>
                <a:ea typeface="Times New Roman"/>
                <a:cs typeface="Times New Roman"/>
                <a:sym typeface="Times New Roman"/>
              </a:rPr>
            </a:br>
            <a:r>
              <a:rPr lang="en" sz="1600">
                <a:solidFill>
                  <a:schemeClr val="lt1"/>
                </a:solidFill>
                <a:latin typeface="Times New Roman"/>
                <a:ea typeface="Times New Roman"/>
                <a:cs typeface="Times New Roman"/>
                <a:sym typeface="Times New Roman"/>
              </a:rPr>
              <a:t> To provide affordable, AI-powered and personalized competitive exam preparation for aspirants.</a:t>
            </a:r>
            <a:endParaRPr sz="1600">
              <a:solidFill>
                <a:schemeClr val="lt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600" b="1">
                <a:solidFill>
                  <a:schemeClr val="lt1"/>
                </a:solidFill>
                <a:latin typeface="Times New Roman"/>
                <a:ea typeface="Times New Roman"/>
                <a:cs typeface="Times New Roman"/>
                <a:sym typeface="Times New Roman"/>
              </a:rPr>
              <a:t>Frustration:</a:t>
            </a:r>
            <a:br>
              <a:rPr lang="en" sz="1600" b="1">
                <a:solidFill>
                  <a:schemeClr val="lt1"/>
                </a:solidFill>
                <a:latin typeface="Times New Roman"/>
                <a:ea typeface="Times New Roman"/>
                <a:cs typeface="Times New Roman"/>
                <a:sym typeface="Times New Roman"/>
              </a:rPr>
            </a:br>
            <a:r>
              <a:rPr lang="en" sz="1600">
                <a:solidFill>
                  <a:schemeClr val="lt1"/>
                </a:solidFill>
                <a:latin typeface="Times New Roman"/>
                <a:ea typeface="Times New Roman"/>
                <a:cs typeface="Times New Roman"/>
                <a:sym typeface="Times New Roman"/>
              </a:rPr>
              <a:t> Students struggle with high-cost coaching, lack of instant doubt support, and poor progress tracking.</a:t>
            </a:r>
            <a:endParaRPr sz="1600">
              <a:solidFill>
                <a:schemeClr val="lt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600" b="1">
                <a:solidFill>
                  <a:schemeClr val="lt1"/>
                </a:solidFill>
                <a:latin typeface="Times New Roman"/>
                <a:ea typeface="Times New Roman"/>
                <a:cs typeface="Times New Roman"/>
                <a:sym typeface="Times New Roman"/>
              </a:rPr>
              <a:t>Problem Statement:</a:t>
            </a:r>
            <a:br>
              <a:rPr lang="en" sz="1600" b="1">
                <a:solidFill>
                  <a:schemeClr val="lt1"/>
                </a:solidFill>
                <a:latin typeface="Times New Roman"/>
                <a:ea typeface="Times New Roman"/>
                <a:cs typeface="Times New Roman"/>
                <a:sym typeface="Times New Roman"/>
              </a:rPr>
            </a:br>
            <a:r>
              <a:rPr lang="en" sz="1600">
                <a:solidFill>
                  <a:schemeClr val="lt1"/>
                </a:solidFill>
                <a:latin typeface="Times New Roman"/>
                <a:ea typeface="Times New Roman"/>
                <a:cs typeface="Times New Roman"/>
                <a:sym typeface="Times New Roman"/>
              </a:rPr>
              <a:t> Existing platforms fail to deliver affordable, personalized, and real-time exam preparation support tailored to individual performance needs.</a:t>
            </a:r>
            <a:endParaRPr sz="1600">
              <a:solidFill>
                <a:schemeClr val="lt1"/>
              </a:solidFill>
              <a:latin typeface="Times New Roman"/>
              <a:ea typeface="Times New Roman"/>
              <a:cs typeface="Times New Roman"/>
              <a:sym typeface="Times New Roman"/>
            </a:endParaRPr>
          </a:p>
          <a:p>
            <a:pPr marL="0" lvl="0" indent="0" algn="l" rtl="0">
              <a:spcBef>
                <a:spcPts val="1200"/>
              </a:spcBef>
              <a:spcAft>
                <a:spcPts val="0"/>
              </a:spcAft>
              <a:buNone/>
            </a:pPr>
            <a:endParaRPr sz="1600">
              <a:solidFill>
                <a:schemeClr val="lt1"/>
              </a:solidFill>
              <a:latin typeface="Times New Roman"/>
              <a:ea typeface="Times New Roman"/>
              <a:cs typeface="Times New Roman"/>
              <a:sym typeface="Times New Roman"/>
            </a:endParaRPr>
          </a:p>
        </p:txBody>
      </p:sp>
      <p:pic>
        <p:nvPicPr>
          <p:cNvPr id="217" name="Google Shape;217;p24"/>
          <p:cNvPicPr preferRelativeResize="0"/>
          <p:nvPr/>
        </p:nvPicPr>
        <p:blipFill>
          <a:blip r:embed="rId3">
            <a:alphaModFix/>
          </a:blip>
          <a:stretch>
            <a:fillRect/>
          </a:stretch>
        </p:blipFill>
        <p:spPr>
          <a:xfrm>
            <a:off x="80300" y="1121725"/>
            <a:ext cx="4149450" cy="2489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5"/>
          <p:cNvSpPr txBox="1">
            <a:spLocks noGrp="1"/>
          </p:cNvSpPr>
          <p:nvPr>
            <p:ph type="title"/>
          </p:nvPr>
        </p:nvSpPr>
        <p:spPr>
          <a:xfrm>
            <a:off x="1678975" y="1178525"/>
            <a:ext cx="6460314" cy="3616200"/>
          </a:xfrm>
          <a:prstGeom prst="rect">
            <a:avLst/>
          </a:prstGeom>
        </p:spPr>
        <p:txBody>
          <a:bodyPr spcFirstLastPara="1" wrap="square" lIns="0" tIns="0" rIns="0" bIns="0" anchor="t" anchorCtr="0">
            <a:normAutofit/>
          </a:bodyPr>
          <a:lstStyle/>
          <a:p>
            <a:pPr marL="0" lvl="0" indent="0" algn="just" rtl="0">
              <a:lnSpc>
                <a:spcPct val="80000"/>
              </a:lnSpc>
              <a:spcBef>
                <a:spcPts val="0"/>
              </a:spcBef>
              <a:spcAft>
                <a:spcPts val="0"/>
              </a:spcAft>
              <a:buNone/>
            </a:pPr>
            <a:r>
              <a:rPr lang="en" sz="6700" b="1" dirty="0">
                <a:latin typeface="Times New Roman"/>
                <a:ea typeface="Times New Roman"/>
                <a:cs typeface="Times New Roman"/>
                <a:sym typeface="Times New Roman"/>
              </a:rPr>
              <a:t>COMPETITIVE                  ANALYSIS</a:t>
            </a:r>
            <a:endParaRPr sz="6700" b="1" dirty="0">
              <a:latin typeface="Times New Roman"/>
              <a:ea typeface="Times New Roman"/>
              <a:cs typeface="Times New Roman"/>
              <a:sym typeface="Times New Roman"/>
            </a:endParaRPr>
          </a:p>
          <a:p>
            <a:pPr marL="0" lvl="0" indent="0" algn="l" rtl="0">
              <a:spcBef>
                <a:spcPts val="0"/>
              </a:spcBef>
              <a:spcAft>
                <a:spcPts val="0"/>
              </a:spcAft>
              <a:buNone/>
            </a:pPr>
            <a:endParaRPr dirty="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6"/>
          <p:cNvSpPr txBox="1">
            <a:spLocks noGrp="1"/>
          </p:cNvSpPr>
          <p:nvPr>
            <p:ph type="title"/>
          </p:nvPr>
        </p:nvSpPr>
        <p:spPr>
          <a:xfrm>
            <a:off x="0" y="0"/>
            <a:ext cx="9144000" cy="5143500"/>
          </a:xfrm>
          <a:prstGeom prst="rect">
            <a:avLst/>
          </a:prstGeom>
        </p:spPr>
        <p:txBody>
          <a:bodyPr spcFirstLastPara="1" wrap="square" lIns="0" tIns="0" rIns="0" bIns="0" anchor="t" anchorCtr="0">
            <a:normAutofit/>
          </a:bodyPr>
          <a:lstStyle/>
          <a:p>
            <a:pPr marL="0" lvl="0" indent="0" algn="ctr" rtl="0">
              <a:lnSpc>
                <a:spcPct val="115000"/>
              </a:lnSpc>
              <a:spcBef>
                <a:spcPts val="0"/>
              </a:spcBef>
              <a:spcAft>
                <a:spcPts val="0"/>
              </a:spcAft>
              <a:buNone/>
            </a:pPr>
            <a:r>
              <a:rPr lang="en" sz="3600" b="1">
                <a:latin typeface="Times New Roman"/>
                <a:ea typeface="Times New Roman"/>
                <a:cs typeface="Times New Roman"/>
                <a:sym typeface="Times New Roman"/>
              </a:rPr>
              <a:t>User Research: Summary</a:t>
            </a:r>
            <a:endParaRPr sz="3600" b="1">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p:txBody>
      </p:sp>
      <p:sp>
        <p:nvSpPr>
          <p:cNvPr id="228" name="Google Shape;228;p26"/>
          <p:cNvSpPr txBox="1"/>
          <p:nvPr/>
        </p:nvSpPr>
        <p:spPr>
          <a:xfrm>
            <a:off x="274450" y="774925"/>
            <a:ext cx="8685600" cy="416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lt1"/>
                </a:solidFill>
                <a:latin typeface="Times New Roman"/>
                <a:ea typeface="Times New Roman"/>
                <a:cs typeface="Times New Roman"/>
                <a:sym typeface="Times New Roman"/>
              </a:rPr>
              <a:t>User research was conducted through surveys and informal interviews with competitive exam aspirants from diverse academic and economic backgrounds. The findings revealed that students face challenges such as high coaching costs, delayed doubt resolution, lack of personalized practice, and difficulty tracking progress effectively. Many preferred self-paced digital solutions over live classes. The research highlighted strong demand for an affordable, AI-powered platform offering instant doubt solving, adaptive mock tests, and structured performance analytics tailored to individual exam preparation needs.</a:t>
            </a:r>
            <a:endParaRPr sz="2200">
              <a:solidFill>
                <a:schemeClr val="lt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7"/>
          <p:cNvSpPr txBox="1">
            <a:spLocks noGrp="1"/>
          </p:cNvSpPr>
          <p:nvPr>
            <p:ph type="title"/>
          </p:nvPr>
        </p:nvSpPr>
        <p:spPr>
          <a:xfrm>
            <a:off x="0" y="0"/>
            <a:ext cx="9144000" cy="5143500"/>
          </a:xfrm>
          <a:prstGeom prst="rect">
            <a:avLst/>
          </a:prstGeom>
        </p:spPr>
        <p:txBody>
          <a:bodyPr spcFirstLastPara="1" wrap="square" lIns="0" tIns="0" rIns="0" bIns="0" anchor="t" anchorCtr="0">
            <a:normAutofit/>
          </a:bodyPr>
          <a:lstStyle/>
          <a:p>
            <a:pPr marL="0" lvl="0" indent="0" algn="ctr" rtl="0">
              <a:lnSpc>
                <a:spcPct val="115000"/>
              </a:lnSpc>
              <a:spcBef>
                <a:spcPts val="0"/>
              </a:spcBef>
              <a:spcAft>
                <a:spcPts val="0"/>
              </a:spcAft>
              <a:buNone/>
            </a:pPr>
            <a:r>
              <a:rPr lang="en" sz="3400" b="1">
                <a:latin typeface="Times New Roman"/>
                <a:ea typeface="Times New Roman"/>
                <a:cs typeface="Times New Roman"/>
                <a:sym typeface="Times New Roman"/>
              </a:rPr>
              <a:t>BUSINESS POTENTIAL</a:t>
            </a:r>
            <a:endParaRPr sz="3400" b="1">
              <a:latin typeface="Times New Roman"/>
              <a:ea typeface="Times New Roman"/>
              <a:cs typeface="Times New Roman"/>
              <a:sym typeface="Times New Roman"/>
            </a:endParaRPr>
          </a:p>
          <a:p>
            <a:pPr marL="0" lvl="0" indent="0" algn="l" rtl="0">
              <a:spcBef>
                <a:spcPts val="0"/>
              </a:spcBef>
              <a:spcAft>
                <a:spcPts val="0"/>
              </a:spcAft>
              <a:buNone/>
            </a:pPr>
            <a:endParaRPr sz="3400">
              <a:latin typeface="Times New Roman"/>
              <a:ea typeface="Times New Roman"/>
              <a:cs typeface="Times New Roman"/>
              <a:sym typeface="Times New Roman"/>
            </a:endParaRPr>
          </a:p>
        </p:txBody>
      </p:sp>
      <p:sp>
        <p:nvSpPr>
          <p:cNvPr id="234" name="Google Shape;234;p27"/>
          <p:cNvSpPr txBox="1"/>
          <p:nvPr/>
        </p:nvSpPr>
        <p:spPr>
          <a:xfrm>
            <a:off x="96875" y="645775"/>
            <a:ext cx="8911500" cy="4359000"/>
          </a:xfrm>
          <a:prstGeom prst="rect">
            <a:avLst/>
          </a:prstGeom>
          <a:noFill/>
          <a:ln>
            <a:noFill/>
          </a:ln>
        </p:spPr>
        <p:txBody>
          <a:bodyPr spcFirstLastPara="1" wrap="square" lIns="91425" tIns="91425" rIns="91425" bIns="91425" anchor="t" anchorCtr="0">
            <a:noAutofit/>
          </a:bodyPr>
          <a:lstStyle/>
          <a:p>
            <a:pPr marL="457200" lvl="0" indent="-349250" algn="l" rtl="0">
              <a:spcBef>
                <a:spcPts val="0"/>
              </a:spcBef>
              <a:spcAft>
                <a:spcPts val="0"/>
              </a:spcAft>
              <a:buClr>
                <a:schemeClr val="lt1"/>
              </a:buClr>
              <a:buSzPts val="1900"/>
              <a:buFont typeface="Times New Roman"/>
              <a:buChar char="●"/>
            </a:pPr>
            <a:r>
              <a:rPr lang="en" sz="1900" b="1">
                <a:solidFill>
                  <a:schemeClr val="lt1"/>
                </a:solidFill>
                <a:latin typeface="Times New Roman"/>
                <a:ea typeface="Times New Roman"/>
                <a:cs typeface="Times New Roman"/>
                <a:sym typeface="Times New Roman"/>
              </a:rPr>
              <a:t>Large Target Market:</a:t>
            </a:r>
            <a:r>
              <a:rPr lang="en" sz="1900">
                <a:solidFill>
                  <a:schemeClr val="lt1"/>
                </a:solidFill>
                <a:latin typeface="Times New Roman"/>
                <a:ea typeface="Times New Roman"/>
                <a:cs typeface="Times New Roman"/>
                <a:sym typeface="Times New Roman"/>
              </a:rPr>
              <a:t> India has millions of competitive exam aspirants annually, creating strong and recurring demand for affordable digital preparation solutions.</a:t>
            </a:r>
            <a:br>
              <a:rPr lang="en" sz="1900">
                <a:solidFill>
                  <a:schemeClr val="lt1"/>
                </a:solidFill>
                <a:latin typeface="Times New Roman"/>
                <a:ea typeface="Times New Roman"/>
                <a:cs typeface="Times New Roman"/>
                <a:sym typeface="Times New Roman"/>
              </a:rPr>
            </a:br>
            <a:endParaRPr sz="1900">
              <a:solidFill>
                <a:schemeClr val="lt1"/>
              </a:solidFill>
              <a:latin typeface="Times New Roman"/>
              <a:ea typeface="Times New Roman"/>
              <a:cs typeface="Times New Roman"/>
              <a:sym typeface="Times New Roman"/>
            </a:endParaRPr>
          </a:p>
          <a:p>
            <a:pPr marL="457200" lvl="0" indent="-349250" algn="l" rtl="0">
              <a:spcBef>
                <a:spcPts val="0"/>
              </a:spcBef>
              <a:spcAft>
                <a:spcPts val="0"/>
              </a:spcAft>
              <a:buClr>
                <a:schemeClr val="lt1"/>
              </a:buClr>
              <a:buSzPts val="1900"/>
              <a:buFont typeface="Times New Roman"/>
              <a:buChar char="●"/>
            </a:pPr>
            <a:r>
              <a:rPr lang="en" sz="1900" b="1">
                <a:solidFill>
                  <a:schemeClr val="lt1"/>
                </a:solidFill>
                <a:latin typeface="Times New Roman"/>
                <a:ea typeface="Times New Roman"/>
                <a:cs typeface="Times New Roman"/>
                <a:sym typeface="Times New Roman"/>
              </a:rPr>
              <a:t>Scalable Subscription Model:</a:t>
            </a:r>
            <a:r>
              <a:rPr lang="en" sz="1900">
                <a:solidFill>
                  <a:schemeClr val="lt1"/>
                </a:solidFill>
                <a:latin typeface="Times New Roman"/>
                <a:ea typeface="Times New Roman"/>
                <a:cs typeface="Times New Roman"/>
                <a:sym typeface="Times New Roman"/>
              </a:rPr>
              <a:t> Low-cost monthly or yearly subscription plans can generate consistent recurring revenue with high user retention.</a:t>
            </a:r>
            <a:br>
              <a:rPr lang="en" sz="1900">
                <a:solidFill>
                  <a:schemeClr val="lt1"/>
                </a:solidFill>
                <a:latin typeface="Times New Roman"/>
                <a:ea typeface="Times New Roman"/>
                <a:cs typeface="Times New Roman"/>
                <a:sym typeface="Times New Roman"/>
              </a:rPr>
            </a:br>
            <a:endParaRPr sz="1900">
              <a:solidFill>
                <a:schemeClr val="lt1"/>
              </a:solidFill>
              <a:latin typeface="Times New Roman"/>
              <a:ea typeface="Times New Roman"/>
              <a:cs typeface="Times New Roman"/>
              <a:sym typeface="Times New Roman"/>
            </a:endParaRPr>
          </a:p>
          <a:p>
            <a:pPr marL="457200" lvl="0" indent="-349250" algn="l" rtl="0">
              <a:spcBef>
                <a:spcPts val="0"/>
              </a:spcBef>
              <a:spcAft>
                <a:spcPts val="0"/>
              </a:spcAft>
              <a:buClr>
                <a:schemeClr val="lt1"/>
              </a:buClr>
              <a:buSzPts val="1900"/>
              <a:buFont typeface="Times New Roman"/>
              <a:buChar char="●"/>
            </a:pPr>
            <a:r>
              <a:rPr lang="en" sz="1900" b="1">
                <a:solidFill>
                  <a:schemeClr val="lt1"/>
                </a:solidFill>
                <a:latin typeface="Times New Roman"/>
                <a:ea typeface="Times New Roman"/>
                <a:cs typeface="Times New Roman"/>
                <a:sym typeface="Times New Roman"/>
              </a:rPr>
              <a:t>Multi-Exam Expansion Opportunities:</a:t>
            </a:r>
            <a:r>
              <a:rPr lang="en" sz="1900">
                <a:solidFill>
                  <a:schemeClr val="lt1"/>
                </a:solidFill>
                <a:latin typeface="Times New Roman"/>
                <a:ea typeface="Times New Roman"/>
                <a:cs typeface="Times New Roman"/>
                <a:sym typeface="Times New Roman"/>
              </a:rPr>
              <a:t> The platform can expand to cover various government, entrance, and certification exams, increasing revenue streams.</a:t>
            </a:r>
            <a:br>
              <a:rPr lang="en" sz="1900">
                <a:solidFill>
                  <a:schemeClr val="lt1"/>
                </a:solidFill>
                <a:latin typeface="Times New Roman"/>
                <a:ea typeface="Times New Roman"/>
                <a:cs typeface="Times New Roman"/>
                <a:sym typeface="Times New Roman"/>
              </a:rPr>
            </a:br>
            <a:endParaRPr sz="1900">
              <a:solidFill>
                <a:schemeClr val="lt1"/>
              </a:solidFill>
              <a:latin typeface="Times New Roman"/>
              <a:ea typeface="Times New Roman"/>
              <a:cs typeface="Times New Roman"/>
              <a:sym typeface="Times New Roman"/>
            </a:endParaRPr>
          </a:p>
          <a:p>
            <a:pPr marL="457200" lvl="0" indent="-349250" algn="l" rtl="0">
              <a:spcBef>
                <a:spcPts val="0"/>
              </a:spcBef>
              <a:spcAft>
                <a:spcPts val="0"/>
              </a:spcAft>
              <a:buClr>
                <a:schemeClr val="lt1"/>
              </a:buClr>
              <a:buSzPts val="1900"/>
              <a:buFont typeface="Times New Roman"/>
              <a:buChar char="●"/>
            </a:pPr>
            <a:r>
              <a:rPr lang="en" sz="1900" b="1">
                <a:solidFill>
                  <a:schemeClr val="lt1"/>
                </a:solidFill>
                <a:latin typeface="Times New Roman"/>
                <a:ea typeface="Times New Roman"/>
                <a:cs typeface="Times New Roman"/>
                <a:sym typeface="Times New Roman"/>
              </a:rPr>
              <a:t>Partnership &amp; Institutional Tie-ups:</a:t>
            </a:r>
            <a:r>
              <a:rPr lang="en" sz="1900">
                <a:solidFill>
                  <a:schemeClr val="lt1"/>
                </a:solidFill>
                <a:latin typeface="Times New Roman"/>
                <a:ea typeface="Times New Roman"/>
                <a:cs typeface="Times New Roman"/>
                <a:sym typeface="Times New Roman"/>
              </a:rPr>
              <a:t> Potential collaborations with colleges, coaching centers, and educational institutions can open B2B revenue channels and bulk subscriptions.</a:t>
            </a:r>
            <a:endParaRPr sz="19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8"/>
          <p:cNvSpPr txBox="1">
            <a:spLocks noGrp="1"/>
          </p:cNvSpPr>
          <p:nvPr>
            <p:ph type="title"/>
          </p:nvPr>
        </p:nvSpPr>
        <p:spPr>
          <a:xfrm>
            <a:off x="0" y="0"/>
            <a:ext cx="9144000" cy="5143500"/>
          </a:xfrm>
          <a:prstGeom prst="rect">
            <a:avLst/>
          </a:prstGeom>
        </p:spPr>
        <p:txBody>
          <a:bodyPr spcFirstLastPara="1" wrap="square" lIns="0" tIns="0" rIns="0" bIns="0" anchor="t" anchorCtr="0">
            <a:normAutofit/>
          </a:bodyPr>
          <a:lstStyle/>
          <a:p>
            <a:pPr marL="0" lvl="0" indent="457200" algn="l" rtl="0">
              <a:lnSpc>
                <a:spcPct val="80000"/>
              </a:lnSpc>
              <a:spcBef>
                <a:spcPts val="0"/>
              </a:spcBef>
              <a:spcAft>
                <a:spcPts val="0"/>
              </a:spcAft>
              <a:buNone/>
            </a:pPr>
            <a:endParaRPr sz="2400" b="1">
              <a:latin typeface="Arial"/>
              <a:ea typeface="Arial"/>
              <a:cs typeface="Arial"/>
              <a:sym typeface="Arial"/>
            </a:endParaRPr>
          </a:p>
          <a:p>
            <a:pPr marL="0" lvl="0" indent="457200" algn="l" rtl="0">
              <a:lnSpc>
                <a:spcPct val="80000"/>
              </a:lnSpc>
              <a:spcBef>
                <a:spcPts val="0"/>
              </a:spcBef>
              <a:spcAft>
                <a:spcPts val="0"/>
              </a:spcAft>
              <a:buNone/>
            </a:pPr>
            <a:r>
              <a:rPr lang="en" sz="2400" b="1">
                <a:latin typeface="Arial"/>
                <a:ea typeface="Arial"/>
                <a:cs typeface="Arial"/>
                <a:sym typeface="Arial"/>
              </a:rPr>
              <a:t>COMPETITIVE ANALYSIS</a:t>
            </a:r>
            <a:endParaRPr sz="2400" b="1">
              <a:latin typeface="Arial"/>
              <a:ea typeface="Arial"/>
              <a:cs typeface="Arial"/>
              <a:sym typeface="Arial"/>
            </a:endParaRPr>
          </a:p>
          <a:p>
            <a:pPr marL="0" lvl="0" indent="0" algn="l" rtl="0">
              <a:spcBef>
                <a:spcPts val="0"/>
              </a:spcBef>
              <a:spcAft>
                <a:spcPts val="0"/>
              </a:spcAft>
              <a:buNone/>
            </a:pPr>
            <a:endParaRPr/>
          </a:p>
        </p:txBody>
      </p:sp>
      <p:pic>
        <p:nvPicPr>
          <p:cNvPr id="240" name="Google Shape;240;p28"/>
          <p:cNvPicPr preferRelativeResize="0"/>
          <p:nvPr/>
        </p:nvPicPr>
        <p:blipFill>
          <a:blip r:embed="rId3">
            <a:alphaModFix/>
          </a:blip>
          <a:stretch>
            <a:fillRect/>
          </a:stretch>
        </p:blipFill>
        <p:spPr>
          <a:xfrm>
            <a:off x="449025" y="879728"/>
            <a:ext cx="8137076" cy="3915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9"/>
          <p:cNvSpPr txBox="1">
            <a:spLocks noGrp="1"/>
          </p:cNvSpPr>
          <p:nvPr>
            <p:ph type="title"/>
          </p:nvPr>
        </p:nvSpPr>
        <p:spPr>
          <a:xfrm>
            <a:off x="0" y="0"/>
            <a:ext cx="9144000" cy="5143500"/>
          </a:xfrm>
          <a:prstGeom prst="rect">
            <a:avLst/>
          </a:prstGeom>
        </p:spPr>
        <p:txBody>
          <a:bodyPr spcFirstLastPara="1" wrap="square" lIns="0" tIns="0" rIns="0" bIns="0" anchor="t" anchorCtr="0">
            <a:normAutofit/>
          </a:bodyPr>
          <a:lstStyle/>
          <a:p>
            <a:pPr marL="0" lvl="0" indent="457200" algn="l" rtl="0">
              <a:lnSpc>
                <a:spcPct val="80000"/>
              </a:lnSpc>
              <a:spcBef>
                <a:spcPts val="0"/>
              </a:spcBef>
              <a:spcAft>
                <a:spcPts val="0"/>
              </a:spcAft>
              <a:buNone/>
            </a:pPr>
            <a:endParaRPr sz="2400" b="1">
              <a:latin typeface="Arial"/>
              <a:ea typeface="Arial"/>
              <a:cs typeface="Arial"/>
              <a:sym typeface="Arial"/>
            </a:endParaRPr>
          </a:p>
          <a:p>
            <a:pPr marL="0" lvl="0" indent="457200" algn="l" rtl="0">
              <a:lnSpc>
                <a:spcPct val="80000"/>
              </a:lnSpc>
              <a:spcBef>
                <a:spcPts val="0"/>
              </a:spcBef>
              <a:spcAft>
                <a:spcPts val="0"/>
              </a:spcAft>
              <a:buNone/>
            </a:pPr>
            <a:r>
              <a:rPr lang="en" sz="2400" b="1">
                <a:latin typeface="Arial"/>
                <a:ea typeface="Arial"/>
                <a:cs typeface="Arial"/>
                <a:sym typeface="Arial"/>
              </a:rPr>
              <a:t>COMPETITIVE ANALYSIS</a:t>
            </a:r>
            <a:endParaRPr sz="2400" b="1">
              <a:latin typeface="Arial"/>
              <a:ea typeface="Arial"/>
              <a:cs typeface="Arial"/>
              <a:sym typeface="Arial"/>
            </a:endParaRPr>
          </a:p>
          <a:p>
            <a:pPr marL="0" lvl="0" indent="0" algn="l" rtl="0">
              <a:spcBef>
                <a:spcPts val="0"/>
              </a:spcBef>
              <a:spcAft>
                <a:spcPts val="0"/>
              </a:spcAft>
              <a:buNone/>
            </a:pPr>
            <a:endParaRPr/>
          </a:p>
        </p:txBody>
      </p:sp>
      <p:pic>
        <p:nvPicPr>
          <p:cNvPr id="246" name="Google Shape;246;p29"/>
          <p:cNvPicPr preferRelativeResize="0"/>
          <p:nvPr/>
        </p:nvPicPr>
        <p:blipFill>
          <a:blip r:embed="rId3">
            <a:alphaModFix/>
          </a:blip>
          <a:stretch>
            <a:fillRect/>
          </a:stretch>
        </p:blipFill>
        <p:spPr>
          <a:xfrm>
            <a:off x="380325" y="1180400"/>
            <a:ext cx="8509425" cy="3024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0"/>
          <p:cNvSpPr txBox="1">
            <a:spLocks noGrp="1"/>
          </p:cNvSpPr>
          <p:nvPr>
            <p:ph type="title"/>
          </p:nvPr>
        </p:nvSpPr>
        <p:spPr>
          <a:xfrm>
            <a:off x="0" y="0"/>
            <a:ext cx="9144000" cy="5075400"/>
          </a:xfrm>
          <a:prstGeom prst="rect">
            <a:avLst/>
          </a:prstGeom>
        </p:spPr>
        <p:txBody>
          <a:bodyPr spcFirstLastPara="1" wrap="square" lIns="0" tIns="0" rIns="0" bIns="0" anchor="t" anchorCtr="0">
            <a:normAutofit/>
          </a:bodyPr>
          <a:lstStyle/>
          <a:p>
            <a:pPr marL="0" lvl="0" indent="0" algn="ctr" rtl="0">
              <a:lnSpc>
                <a:spcPct val="80000"/>
              </a:lnSpc>
              <a:spcBef>
                <a:spcPts val="0"/>
              </a:spcBef>
              <a:spcAft>
                <a:spcPts val="0"/>
              </a:spcAft>
              <a:buNone/>
            </a:pPr>
            <a:r>
              <a:rPr lang="en" sz="3000" b="1">
                <a:latin typeface="Times New Roman"/>
                <a:ea typeface="Times New Roman"/>
                <a:cs typeface="Times New Roman"/>
                <a:sym typeface="Times New Roman"/>
              </a:rPr>
              <a:t>User Research: Pain Points</a:t>
            </a:r>
            <a:endParaRPr sz="3000" b="1">
              <a:latin typeface="Times New Roman"/>
              <a:ea typeface="Times New Roman"/>
              <a:cs typeface="Times New Roman"/>
              <a:sym typeface="Times New Roman"/>
            </a:endParaRPr>
          </a:p>
          <a:p>
            <a:pPr marL="0" lvl="0" indent="0" algn="l" rtl="0">
              <a:spcBef>
                <a:spcPts val="0"/>
              </a:spcBef>
              <a:spcAft>
                <a:spcPts val="0"/>
              </a:spcAft>
              <a:buNone/>
            </a:pPr>
            <a:endParaRPr sz="3000">
              <a:latin typeface="Times New Roman"/>
              <a:ea typeface="Times New Roman"/>
              <a:cs typeface="Times New Roman"/>
              <a:sym typeface="Times New Roman"/>
            </a:endParaRPr>
          </a:p>
        </p:txBody>
      </p:sp>
      <p:sp>
        <p:nvSpPr>
          <p:cNvPr id="252" name="Google Shape;252;p30"/>
          <p:cNvSpPr txBox="1"/>
          <p:nvPr/>
        </p:nvSpPr>
        <p:spPr>
          <a:xfrm>
            <a:off x="163275" y="680350"/>
            <a:ext cx="4612800" cy="261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600" b="1">
                <a:solidFill>
                  <a:schemeClr val="lt1"/>
                </a:solidFill>
                <a:latin typeface="Times New Roman"/>
                <a:ea typeface="Times New Roman"/>
                <a:cs typeface="Times New Roman"/>
                <a:sym typeface="Times New Roman"/>
              </a:rPr>
              <a:t>Complex Planning &amp; Architecture Understanding:</a:t>
            </a:r>
            <a:endParaRPr sz="1600" b="1">
              <a:solidFill>
                <a:schemeClr val="lt1"/>
              </a:solidFill>
              <a:latin typeface="Times New Roman"/>
              <a:ea typeface="Times New Roman"/>
              <a:cs typeface="Times New Roman"/>
              <a:sym typeface="Times New Roman"/>
            </a:endParaRPr>
          </a:p>
          <a:p>
            <a:pPr marL="457200" lvl="0" indent="-323850" algn="l" rtl="0">
              <a:spcBef>
                <a:spcPts val="0"/>
              </a:spcBef>
              <a:spcAft>
                <a:spcPts val="0"/>
              </a:spcAft>
              <a:buClr>
                <a:schemeClr val="lt1"/>
              </a:buClr>
              <a:buSzPts val="1500"/>
              <a:buFont typeface="Times New Roman"/>
              <a:buChar char="●"/>
            </a:pPr>
            <a:r>
              <a:rPr lang="en" sz="1500" b="1">
                <a:solidFill>
                  <a:schemeClr val="lt1"/>
                </a:solidFill>
                <a:latin typeface="Times New Roman"/>
                <a:ea typeface="Times New Roman"/>
                <a:cs typeface="Times New Roman"/>
                <a:sym typeface="Times New Roman"/>
              </a:rPr>
              <a:t>Demonstrates the ability to design a multi-layered system architecture integrating AI engines, adaptive testing modules, databases, and cloud infrastructure in a cohesive manner.</a:t>
            </a:r>
            <a:br>
              <a:rPr lang="en" sz="1500" b="1">
                <a:solidFill>
                  <a:schemeClr val="lt1"/>
                </a:solidFill>
                <a:latin typeface="Times New Roman"/>
                <a:ea typeface="Times New Roman"/>
                <a:cs typeface="Times New Roman"/>
                <a:sym typeface="Times New Roman"/>
              </a:rPr>
            </a:br>
            <a:endParaRPr sz="1500" b="1">
              <a:solidFill>
                <a:schemeClr val="lt1"/>
              </a:solidFill>
              <a:latin typeface="Times New Roman"/>
              <a:ea typeface="Times New Roman"/>
              <a:cs typeface="Times New Roman"/>
              <a:sym typeface="Times New Roman"/>
            </a:endParaRPr>
          </a:p>
          <a:p>
            <a:pPr marL="457200" lvl="0" indent="-323850" algn="l" rtl="0">
              <a:spcBef>
                <a:spcPts val="0"/>
              </a:spcBef>
              <a:spcAft>
                <a:spcPts val="0"/>
              </a:spcAft>
              <a:buClr>
                <a:schemeClr val="lt1"/>
              </a:buClr>
              <a:buSzPts val="1500"/>
              <a:buFont typeface="Times New Roman"/>
              <a:buChar char="●"/>
            </a:pPr>
            <a:r>
              <a:rPr lang="en" sz="1500" b="1">
                <a:solidFill>
                  <a:schemeClr val="lt1"/>
                </a:solidFill>
                <a:latin typeface="Times New Roman"/>
                <a:ea typeface="Times New Roman"/>
                <a:cs typeface="Times New Roman"/>
                <a:sym typeface="Times New Roman"/>
              </a:rPr>
              <a:t>Reflects strong understanding of scalable planning, secure data flow, performance optimization, and structured module interaction within a real-world EdTech application.</a:t>
            </a:r>
            <a:endParaRPr sz="1500" b="1">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1200" b="1">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1300">
              <a:solidFill>
                <a:schemeClr val="lt1"/>
              </a:solidFill>
              <a:latin typeface="Times New Roman"/>
              <a:ea typeface="Times New Roman"/>
              <a:cs typeface="Times New Roman"/>
              <a:sym typeface="Times New Roman"/>
            </a:endParaRPr>
          </a:p>
        </p:txBody>
      </p:sp>
      <p:sp>
        <p:nvSpPr>
          <p:cNvPr id="253" name="Google Shape;253;p30"/>
          <p:cNvSpPr txBox="1"/>
          <p:nvPr/>
        </p:nvSpPr>
        <p:spPr>
          <a:xfrm>
            <a:off x="4825175" y="680350"/>
            <a:ext cx="4234800" cy="261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600" b="1">
                <a:solidFill>
                  <a:schemeClr val="lt1"/>
                </a:solidFill>
                <a:latin typeface="Times New Roman"/>
                <a:ea typeface="Times New Roman"/>
                <a:cs typeface="Times New Roman"/>
                <a:sym typeface="Times New Roman"/>
              </a:rPr>
              <a:t>Lack of mobile optimization:</a:t>
            </a:r>
            <a:endParaRPr sz="1600" b="1">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1600" b="1">
              <a:solidFill>
                <a:schemeClr val="lt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Font typeface="Times New Roman"/>
              <a:buChar char="●"/>
            </a:pPr>
            <a:r>
              <a:rPr lang="en" b="1">
                <a:solidFill>
                  <a:schemeClr val="lt1"/>
                </a:solidFill>
                <a:latin typeface="Times New Roman"/>
                <a:ea typeface="Times New Roman"/>
                <a:cs typeface="Times New Roman"/>
                <a:sym typeface="Times New Roman"/>
              </a:rPr>
              <a:t>Poor mobile optimization can lead to slow loading times, distorted layouts, and reduced usability on smartphones, affecting student engagement.</a:t>
            </a:r>
            <a:br>
              <a:rPr lang="en" b="1">
                <a:solidFill>
                  <a:schemeClr val="lt1"/>
                </a:solidFill>
                <a:latin typeface="Times New Roman"/>
                <a:ea typeface="Times New Roman"/>
                <a:cs typeface="Times New Roman"/>
                <a:sym typeface="Times New Roman"/>
              </a:rPr>
            </a:br>
            <a:endParaRPr b="1">
              <a:solidFill>
                <a:schemeClr val="lt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Font typeface="Times New Roman"/>
              <a:buChar char="●"/>
            </a:pPr>
            <a:r>
              <a:rPr lang="en" b="1">
                <a:solidFill>
                  <a:schemeClr val="lt1"/>
                </a:solidFill>
                <a:latin typeface="Times New Roman"/>
                <a:ea typeface="Times New Roman"/>
                <a:cs typeface="Times New Roman"/>
                <a:sym typeface="Times New Roman"/>
              </a:rPr>
              <a:t>Inadequate responsive design may cause navigation issues and accessibility challenges, limiting the app’s effectiveness for mobile-first users.</a:t>
            </a:r>
            <a:endParaRPr b="1">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1600" b="1">
              <a:solidFill>
                <a:schemeClr val="l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0" y="0"/>
            <a:ext cx="9144000" cy="5143500"/>
          </a:xfrm>
          <a:prstGeom prst="rect">
            <a:avLst/>
          </a:prstGeom>
        </p:spPr>
        <p:txBody>
          <a:bodyPr spcFirstLastPara="1" wrap="square" lIns="0" tIns="0" rIns="0" bIns="0" anchor="t" anchorCtr="0">
            <a:normAutofit/>
          </a:bodyPr>
          <a:lstStyle/>
          <a:p>
            <a:pPr marL="0" lvl="0" indent="457200" algn="l" rtl="0">
              <a:spcBef>
                <a:spcPts val="0"/>
              </a:spcBef>
              <a:spcAft>
                <a:spcPts val="0"/>
              </a:spcAft>
              <a:buNone/>
            </a:pPr>
            <a:endParaRPr sz="2500" b="1">
              <a:latin typeface="Times New Roman"/>
              <a:ea typeface="Times New Roman"/>
              <a:cs typeface="Times New Roman"/>
              <a:sym typeface="Times New Roman"/>
            </a:endParaRPr>
          </a:p>
          <a:p>
            <a:pPr marL="457200" lvl="0" indent="457200" algn="l" rtl="0">
              <a:spcBef>
                <a:spcPts val="0"/>
              </a:spcBef>
              <a:spcAft>
                <a:spcPts val="0"/>
              </a:spcAft>
              <a:buNone/>
            </a:pPr>
            <a:r>
              <a:rPr lang="en" sz="2500" b="1">
                <a:latin typeface="Times New Roman"/>
                <a:ea typeface="Times New Roman"/>
                <a:cs typeface="Times New Roman"/>
                <a:sym typeface="Times New Roman"/>
              </a:rPr>
              <a:t>MOCKUPS LOW FIDELITY-(CONVERGENCE)</a:t>
            </a:r>
            <a:endParaRPr>
              <a:latin typeface="Times New Roman"/>
              <a:ea typeface="Times New Roman"/>
              <a:cs typeface="Times New Roman"/>
              <a:sym typeface="Times New Roman"/>
            </a:endParaRPr>
          </a:p>
        </p:txBody>
      </p:sp>
      <p:pic>
        <p:nvPicPr>
          <p:cNvPr id="271" name="Google Shape;271;p33"/>
          <p:cNvPicPr preferRelativeResize="0"/>
          <p:nvPr/>
        </p:nvPicPr>
        <p:blipFill>
          <a:blip r:embed="rId3">
            <a:alphaModFix/>
          </a:blip>
          <a:stretch>
            <a:fillRect/>
          </a:stretch>
        </p:blipFill>
        <p:spPr>
          <a:xfrm>
            <a:off x="595200" y="717800"/>
            <a:ext cx="2014925" cy="4117750"/>
          </a:xfrm>
          <a:prstGeom prst="rect">
            <a:avLst/>
          </a:prstGeom>
          <a:noFill/>
          <a:ln>
            <a:noFill/>
          </a:ln>
        </p:spPr>
      </p:pic>
      <p:pic>
        <p:nvPicPr>
          <p:cNvPr id="272" name="Google Shape;272;p33"/>
          <p:cNvPicPr preferRelativeResize="0"/>
          <p:nvPr/>
        </p:nvPicPr>
        <p:blipFill>
          <a:blip r:embed="rId4">
            <a:alphaModFix/>
          </a:blip>
          <a:stretch>
            <a:fillRect/>
          </a:stretch>
        </p:blipFill>
        <p:spPr>
          <a:xfrm>
            <a:off x="3612748" y="717799"/>
            <a:ext cx="1918503" cy="4117751"/>
          </a:xfrm>
          <a:prstGeom prst="rect">
            <a:avLst/>
          </a:prstGeom>
          <a:noFill/>
          <a:ln>
            <a:noFill/>
          </a:ln>
        </p:spPr>
      </p:pic>
      <p:pic>
        <p:nvPicPr>
          <p:cNvPr id="273" name="Google Shape;273;p33"/>
          <p:cNvPicPr preferRelativeResize="0"/>
          <p:nvPr/>
        </p:nvPicPr>
        <p:blipFill>
          <a:blip r:embed="rId5">
            <a:alphaModFix/>
          </a:blip>
          <a:stretch>
            <a:fillRect/>
          </a:stretch>
        </p:blipFill>
        <p:spPr>
          <a:xfrm>
            <a:off x="6406225" y="717800"/>
            <a:ext cx="1918500" cy="412093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4"/>
          <p:cNvSpPr txBox="1">
            <a:spLocks noGrp="1"/>
          </p:cNvSpPr>
          <p:nvPr>
            <p:ph type="title"/>
          </p:nvPr>
        </p:nvSpPr>
        <p:spPr>
          <a:xfrm>
            <a:off x="0" y="0"/>
            <a:ext cx="9144000" cy="51435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endParaRPr sz="3200" b="1">
              <a:latin typeface="Times New Roman"/>
              <a:ea typeface="Times New Roman"/>
              <a:cs typeface="Times New Roman"/>
              <a:sym typeface="Times New Roman"/>
            </a:endParaRPr>
          </a:p>
          <a:p>
            <a:pPr marL="2286000" lvl="0" indent="457200" algn="l" rtl="0">
              <a:spcBef>
                <a:spcPts val="0"/>
              </a:spcBef>
              <a:spcAft>
                <a:spcPts val="0"/>
              </a:spcAft>
              <a:buNone/>
            </a:pPr>
            <a:r>
              <a:rPr lang="en" sz="3200" b="1">
                <a:latin typeface="Times New Roman"/>
                <a:ea typeface="Times New Roman"/>
                <a:cs typeface="Times New Roman"/>
                <a:sym typeface="Times New Roman"/>
              </a:rPr>
              <a:t>USABILITY STUDIES</a:t>
            </a:r>
            <a:endParaRPr>
              <a:latin typeface="Times New Roman"/>
              <a:ea typeface="Times New Roman"/>
              <a:cs typeface="Times New Roman"/>
              <a:sym typeface="Times New Roman"/>
            </a:endParaRPr>
          </a:p>
        </p:txBody>
      </p:sp>
      <p:sp>
        <p:nvSpPr>
          <p:cNvPr id="279" name="Google Shape;279;p34"/>
          <p:cNvSpPr txBox="1"/>
          <p:nvPr/>
        </p:nvSpPr>
        <p:spPr>
          <a:xfrm>
            <a:off x="190500" y="1201625"/>
            <a:ext cx="4440000" cy="37515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400"/>
              </a:spcBef>
              <a:spcAft>
                <a:spcPts val="0"/>
              </a:spcAft>
              <a:buNone/>
            </a:pPr>
            <a:r>
              <a:rPr lang="en" sz="1500" b="1">
                <a:solidFill>
                  <a:schemeClr val="lt1"/>
                </a:solidFill>
                <a:latin typeface="Times New Roman"/>
                <a:ea typeface="Times New Roman"/>
                <a:cs typeface="Times New Roman"/>
                <a:sym typeface="Times New Roman"/>
              </a:rPr>
              <a:t>Round 01 – LLD Generation Confusion</a:t>
            </a:r>
            <a:endParaRPr sz="1500" b="1">
              <a:solidFill>
                <a:schemeClr val="lt1"/>
              </a:solidFill>
              <a:latin typeface="Times New Roman"/>
              <a:ea typeface="Times New Roman"/>
              <a:cs typeface="Times New Roman"/>
              <a:sym typeface="Times New Roman"/>
            </a:endParaRPr>
          </a:p>
          <a:p>
            <a:pPr marL="12700" lvl="0" indent="0" algn="just" rtl="0">
              <a:lnSpc>
                <a:spcPct val="115000"/>
              </a:lnSpc>
              <a:spcBef>
                <a:spcPts val="1400"/>
              </a:spcBef>
              <a:spcAft>
                <a:spcPts val="0"/>
              </a:spcAft>
              <a:buNone/>
            </a:pPr>
            <a:r>
              <a:rPr lang="en" sz="1500">
                <a:solidFill>
                  <a:schemeClr val="lt1"/>
                </a:solidFill>
                <a:latin typeface="Times New Roman"/>
                <a:ea typeface="Times New Roman"/>
                <a:cs typeface="Times New Roman"/>
                <a:sym typeface="Times New Roman"/>
              </a:rPr>
              <a:t>●The initial idea-to-LLD screen showed too many options at once (Q&amp;A input, chatbot edit, export, save, history, tech stack), which confused first-time users.</a:t>
            </a:r>
            <a:endParaRPr sz="1500">
              <a:solidFill>
                <a:schemeClr val="lt1"/>
              </a:solidFill>
              <a:latin typeface="Times New Roman"/>
              <a:ea typeface="Times New Roman"/>
              <a:cs typeface="Times New Roman"/>
              <a:sym typeface="Times New Roman"/>
            </a:endParaRPr>
          </a:p>
          <a:p>
            <a:pPr marL="12700" lvl="0" indent="0" algn="just" rtl="0">
              <a:lnSpc>
                <a:spcPct val="115000"/>
              </a:lnSpc>
              <a:spcBef>
                <a:spcPts val="0"/>
              </a:spcBef>
              <a:spcAft>
                <a:spcPts val="0"/>
              </a:spcAft>
              <a:buNone/>
            </a:pPr>
            <a:r>
              <a:rPr lang="en" sz="1500">
                <a:solidFill>
                  <a:schemeClr val="lt1"/>
                </a:solidFill>
                <a:latin typeface="Times New Roman"/>
                <a:ea typeface="Times New Roman"/>
                <a:cs typeface="Times New Roman"/>
                <a:sym typeface="Times New Roman"/>
              </a:rPr>
              <a:t>●Participants struggled to identify the main action—starting the guided Q&amp;A—because many buttons appeared with equal importance.</a:t>
            </a:r>
            <a:endParaRPr sz="1500">
              <a:solidFill>
                <a:schemeClr val="lt1"/>
              </a:solidFill>
              <a:latin typeface="Times New Roman"/>
              <a:ea typeface="Times New Roman"/>
              <a:cs typeface="Times New Roman"/>
              <a:sym typeface="Times New Roman"/>
            </a:endParaRPr>
          </a:p>
          <a:p>
            <a:pPr marL="12700" lvl="0" indent="0" algn="just" rtl="0">
              <a:lnSpc>
                <a:spcPct val="115000"/>
              </a:lnSpc>
              <a:spcBef>
                <a:spcPts val="0"/>
              </a:spcBef>
              <a:spcAft>
                <a:spcPts val="0"/>
              </a:spcAft>
              <a:buNone/>
            </a:pPr>
            <a:r>
              <a:rPr lang="en" sz="1500">
                <a:solidFill>
                  <a:schemeClr val="lt1"/>
                </a:solidFill>
                <a:latin typeface="Times New Roman"/>
                <a:ea typeface="Times New Roman"/>
                <a:cs typeface="Times New Roman"/>
                <a:sym typeface="Times New Roman"/>
              </a:rPr>
              <a:t>●</a:t>
            </a:r>
            <a:r>
              <a:rPr lang="en" sz="1500" b="1">
                <a:solidFill>
                  <a:schemeClr val="lt1"/>
                </a:solidFill>
                <a:latin typeface="Times New Roman"/>
                <a:ea typeface="Times New Roman"/>
                <a:cs typeface="Times New Roman"/>
                <a:sym typeface="Times New Roman"/>
              </a:rPr>
              <a:t>Recommendation:</a:t>
            </a:r>
            <a:r>
              <a:rPr lang="en" sz="1500">
                <a:solidFill>
                  <a:schemeClr val="lt1"/>
                </a:solidFill>
                <a:latin typeface="Times New Roman"/>
                <a:ea typeface="Times New Roman"/>
                <a:cs typeface="Times New Roman"/>
                <a:sym typeface="Times New Roman"/>
              </a:rPr>
              <a:t> Simplify the entry screen by highlighting the main “Start Q&amp;A” action and grouping other features (history, export, settings, saved projects) under menus for a cleaner, focused experience.</a:t>
            </a:r>
            <a:endParaRPr sz="15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1500">
              <a:solidFill>
                <a:schemeClr val="lt1"/>
              </a:solidFill>
              <a:latin typeface="Times New Roman"/>
              <a:ea typeface="Times New Roman"/>
              <a:cs typeface="Times New Roman"/>
              <a:sym typeface="Times New Roman"/>
            </a:endParaRPr>
          </a:p>
        </p:txBody>
      </p:sp>
      <p:sp>
        <p:nvSpPr>
          <p:cNvPr id="280" name="Google Shape;280;p34"/>
          <p:cNvSpPr txBox="1"/>
          <p:nvPr/>
        </p:nvSpPr>
        <p:spPr>
          <a:xfrm>
            <a:off x="4850425" y="1201625"/>
            <a:ext cx="4205700" cy="36780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400"/>
              </a:spcBef>
              <a:spcAft>
                <a:spcPts val="0"/>
              </a:spcAft>
              <a:buNone/>
            </a:pPr>
            <a:r>
              <a:rPr lang="en" sz="1500" b="1">
                <a:solidFill>
                  <a:schemeClr val="lt1"/>
                </a:solidFill>
                <a:latin typeface="Times New Roman"/>
                <a:ea typeface="Times New Roman"/>
                <a:cs typeface="Times New Roman"/>
                <a:sym typeface="Times New Roman"/>
              </a:rPr>
              <a:t>Round 02 – Feature Accessibility Improvement</a:t>
            </a:r>
            <a:endParaRPr sz="1500" b="1">
              <a:solidFill>
                <a:schemeClr val="lt1"/>
              </a:solidFill>
              <a:latin typeface="Times New Roman"/>
              <a:ea typeface="Times New Roman"/>
              <a:cs typeface="Times New Roman"/>
              <a:sym typeface="Times New Roman"/>
            </a:endParaRPr>
          </a:p>
          <a:p>
            <a:pPr marL="12700" lvl="0" indent="0" algn="just" rtl="0">
              <a:lnSpc>
                <a:spcPct val="115000"/>
              </a:lnSpc>
              <a:spcBef>
                <a:spcPts val="1400"/>
              </a:spcBef>
              <a:spcAft>
                <a:spcPts val="0"/>
              </a:spcAft>
              <a:buNone/>
            </a:pPr>
            <a:r>
              <a:rPr lang="en" sz="1500">
                <a:solidFill>
                  <a:schemeClr val="lt1"/>
                </a:solidFill>
                <a:latin typeface="Times New Roman"/>
                <a:ea typeface="Times New Roman"/>
                <a:cs typeface="Times New Roman"/>
                <a:sym typeface="Times New Roman"/>
              </a:rPr>
              <a:t>●After simplifying the interface, users wanted faster access to saved projects, previous LLD versions, and investor-shared project packages.</a:t>
            </a:r>
            <a:endParaRPr sz="1500">
              <a:solidFill>
                <a:schemeClr val="lt1"/>
              </a:solidFill>
              <a:latin typeface="Times New Roman"/>
              <a:ea typeface="Times New Roman"/>
              <a:cs typeface="Times New Roman"/>
              <a:sym typeface="Times New Roman"/>
            </a:endParaRPr>
          </a:p>
          <a:p>
            <a:pPr marL="12700" lvl="0" indent="0" algn="just" rtl="0">
              <a:lnSpc>
                <a:spcPct val="115000"/>
              </a:lnSpc>
              <a:spcBef>
                <a:spcPts val="0"/>
              </a:spcBef>
              <a:spcAft>
                <a:spcPts val="0"/>
              </a:spcAft>
              <a:buNone/>
            </a:pPr>
            <a:r>
              <a:rPr lang="en" sz="1500">
                <a:solidFill>
                  <a:schemeClr val="lt1"/>
                </a:solidFill>
                <a:latin typeface="Times New Roman"/>
                <a:ea typeface="Times New Roman"/>
                <a:cs typeface="Times New Roman"/>
                <a:sym typeface="Times New Roman"/>
              </a:rPr>
              <a:t>●Users also requested more control over how architecture is shown, including diagram view, text explanation, tech stack view, and investor-ready summaries.</a:t>
            </a:r>
            <a:endParaRPr sz="1500">
              <a:solidFill>
                <a:schemeClr val="lt1"/>
              </a:solidFill>
              <a:latin typeface="Times New Roman"/>
              <a:ea typeface="Times New Roman"/>
              <a:cs typeface="Times New Roman"/>
              <a:sym typeface="Times New Roman"/>
            </a:endParaRPr>
          </a:p>
          <a:p>
            <a:pPr marL="12700" lvl="0" indent="0" algn="just" rtl="0">
              <a:lnSpc>
                <a:spcPct val="115000"/>
              </a:lnSpc>
              <a:spcBef>
                <a:spcPts val="0"/>
              </a:spcBef>
              <a:spcAft>
                <a:spcPts val="0"/>
              </a:spcAft>
              <a:buNone/>
            </a:pPr>
            <a:r>
              <a:rPr lang="en" sz="1500">
                <a:solidFill>
                  <a:schemeClr val="lt1"/>
                </a:solidFill>
                <a:latin typeface="Times New Roman"/>
                <a:ea typeface="Times New Roman"/>
                <a:cs typeface="Times New Roman"/>
                <a:sym typeface="Times New Roman"/>
              </a:rPr>
              <a:t>●</a:t>
            </a:r>
            <a:r>
              <a:rPr lang="en" sz="1500" b="1">
                <a:solidFill>
                  <a:schemeClr val="lt1"/>
                </a:solidFill>
                <a:latin typeface="Times New Roman"/>
                <a:ea typeface="Times New Roman"/>
                <a:cs typeface="Times New Roman"/>
                <a:sym typeface="Times New Roman"/>
              </a:rPr>
              <a:t>Recommendation:</a:t>
            </a:r>
            <a:r>
              <a:rPr lang="en" sz="1500">
                <a:solidFill>
                  <a:schemeClr val="lt1"/>
                </a:solidFill>
                <a:latin typeface="Times New Roman"/>
                <a:ea typeface="Times New Roman"/>
                <a:cs typeface="Times New Roman"/>
                <a:sym typeface="Times New Roman"/>
              </a:rPr>
              <a:t> Add customizable LLD views and quick-access icons for Saved Projects, Versions, Tech Stack, and Investor Requests to improve navigation speed and support better idea sharing.</a:t>
            </a:r>
            <a:endParaRPr sz="15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1500">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5"/>
          <p:cNvSpPr txBox="1">
            <a:spLocks noGrp="1"/>
          </p:cNvSpPr>
          <p:nvPr>
            <p:ph type="title"/>
          </p:nvPr>
        </p:nvSpPr>
        <p:spPr>
          <a:xfrm>
            <a:off x="0" y="0"/>
            <a:ext cx="9144000" cy="5143500"/>
          </a:xfrm>
          <a:prstGeom prst="rect">
            <a:avLst/>
          </a:prstGeom>
        </p:spPr>
        <p:txBody>
          <a:bodyPr spcFirstLastPara="1" wrap="square" lIns="0" tIns="0" rIns="0" bIns="0" anchor="t" anchorCtr="0">
            <a:normAutofit/>
          </a:bodyPr>
          <a:lstStyle/>
          <a:p>
            <a:pPr marL="1828800" lvl="0" indent="457200" algn="l" rtl="0">
              <a:spcBef>
                <a:spcPts val="0"/>
              </a:spcBef>
              <a:spcAft>
                <a:spcPts val="0"/>
              </a:spcAft>
              <a:buNone/>
            </a:pPr>
            <a:r>
              <a:rPr lang="en" sz="3500" b="1">
                <a:latin typeface="Times New Roman"/>
                <a:ea typeface="Times New Roman"/>
                <a:cs typeface="Times New Roman"/>
                <a:sym typeface="Times New Roman"/>
              </a:rPr>
              <a:t>PRODUCT HI FIDELITY</a:t>
            </a:r>
            <a:endParaRPr>
              <a:latin typeface="Times New Roman"/>
              <a:ea typeface="Times New Roman"/>
              <a:cs typeface="Times New Roman"/>
              <a:sym typeface="Times New Roman"/>
            </a:endParaRPr>
          </a:p>
        </p:txBody>
      </p:sp>
      <p:pic>
        <p:nvPicPr>
          <p:cNvPr id="286" name="Google Shape;286;p35"/>
          <p:cNvPicPr preferRelativeResize="0"/>
          <p:nvPr/>
        </p:nvPicPr>
        <p:blipFill>
          <a:blip r:embed="rId3">
            <a:alphaModFix/>
          </a:blip>
          <a:stretch>
            <a:fillRect/>
          </a:stretch>
        </p:blipFill>
        <p:spPr>
          <a:xfrm>
            <a:off x="390525" y="538525"/>
            <a:ext cx="2039575" cy="4370525"/>
          </a:xfrm>
          <a:prstGeom prst="rect">
            <a:avLst/>
          </a:prstGeom>
          <a:noFill/>
          <a:ln>
            <a:noFill/>
          </a:ln>
        </p:spPr>
      </p:pic>
      <p:pic>
        <p:nvPicPr>
          <p:cNvPr id="287" name="Google Shape;287;p35"/>
          <p:cNvPicPr preferRelativeResize="0"/>
          <p:nvPr/>
        </p:nvPicPr>
        <p:blipFill>
          <a:blip r:embed="rId4">
            <a:alphaModFix/>
          </a:blip>
          <a:stretch>
            <a:fillRect/>
          </a:stretch>
        </p:blipFill>
        <p:spPr>
          <a:xfrm>
            <a:off x="3552213" y="562013"/>
            <a:ext cx="2039575" cy="4323537"/>
          </a:xfrm>
          <a:prstGeom prst="rect">
            <a:avLst/>
          </a:prstGeom>
          <a:noFill/>
          <a:ln>
            <a:noFill/>
          </a:ln>
        </p:spPr>
      </p:pic>
      <p:pic>
        <p:nvPicPr>
          <p:cNvPr id="288" name="Google Shape;288;p35"/>
          <p:cNvPicPr preferRelativeResize="0"/>
          <p:nvPr/>
        </p:nvPicPr>
        <p:blipFill>
          <a:blip r:embed="rId5">
            <a:alphaModFix/>
          </a:blip>
          <a:stretch>
            <a:fillRect/>
          </a:stretch>
        </p:blipFill>
        <p:spPr>
          <a:xfrm>
            <a:off x="6200050" y="545963"/>
            <a:ext cx="2039550" cy="43556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6"/>
          <p:cNvSpPr txBox="1">
            <a:spLocks noGrp="1"/>
          </p:cNvSpPr>
          <p:nvPr>
            <p:ph type="title"/>
          </p:nvPr>
        </p:nvSpPr>
        <p:spPr>
          <a:xfrm>
            <a:off x="0" y="0"/>
            <a:ext cx="9144000" cy="5085000"/>
          </a:xfrm>
          <a:prstGeom prst="rect">
            <a:avLst/>
          </a:prstGeom>
        </p:spPr>
        <p:txBody>
          <a:bodyPr spcFirstLastPara="1" wrap="square" lIns="0" tIns="0" rIns="0" bIns="0" anchor="t" anchorCtr="0">
            <a:normAutofit/>
          </a:bodyPr>
          <a:lstStyle/>
          <a:p>
            <a:pPr marL="0" lvl="0" indent="457200" algn="l" rtl="0">
              <a:spcBef>
                <a:spcPts val="0"/>
              </a:spcBef>
              <a:spcAft>
                <a:spcPts val="0"/>
              </a:spcAft>
              <a:buNone/>
            </a:pPr>
            <a:endParaRPr sz="3150" b="1">
              <a:latin typeface="Times New Roman"/>
              <a:ea typeface="Times New Roman"/>
              <a:cs typeface="Times New Roman"/>
              <a:sym typeface="Times New Roman"/>
            </a:endParaRPr>
          </a:p>
          <a:p>
            <a:pPr marL="1371600" lvl="0" indent="457200" algn="l" rtl="0">
              <a:spcBef>
                <a:spcPts val="0"/>
              </a:spcBef>
              <a:spcAft>
                <a:spcPts val="0"/>
              </a:spcAft>
              <a:buNone/>
            </a:pPr>
            <a:r>
              <a:rPr lang="en" sz="3150" b="1">
                <a:latin typeface="Times New Roman"/>
                <a:ea typeface="Times New Roman"/>
                <a:cs typeface="Times New Roman"/>
                <a:sym typeface="Times New Roman"/>
              </a:rPr>
              <a:t>PRODUCT DESIGN MOCKUPS</a:t>
            </a:r>
            <a:endParaRPr>
              <a:latin typeface="Times New Roman"/>
              <a:ea typeface="Times New Roman"/>
              <a:cs typeface="Times New Roman"/>
              <a:sym typeface="Times New Roman"/>
            </a:endParaRPr>
          </a:p>
        </p:txBody>
      </p:sp>
      <p:sp>
        <p:nvSpPr>
          <p:cNvPr id="294" name="Google Shape;294;p36"/>
          <p:cNvSpPr txBox="1"/>
          <p:nvPr/>
        </p:nvSpPr>
        <p:spPr>
          <a:xfrm>
            <a:off x="102575" y="1055075"/>
            <a:ext cx="4293600" cy="39273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None/>
            </a:pPr>
            <a:r>
              <a:rPr lang="en" sz="2200" b="1">
                <a:solidFill>
                  <a:schemeClr val="lt1"/>
                </a:solidFill>
                <a:latin typeface="Times New Roman"/>
                <a:ea typeface="Times New Roman"/>
                <a:cs typeface="Times New Roman"/>
                <a:sym typeface="Times New Roman"/>
              </a:rPr>
              <a:t>Impact of the Project:</a:t>
            </a:r>
            <a:endParaRPr sz="2200" b="1">
              <a:solidFill>
                <a:schemeClr val="lt1"/>
              </a:solidFill>
              <a:latin typeface="Times New Roman"/>
              <a:ea typeface="Times New Roman"/>
              <a:cs typeface="Times New Roman"/>
              <a:sym typeface="Times New Roman"/>
            </a:endParaRPr>
          </a:p>
          <a:p>
            <a:pPr marL="457200" lvl="0" indent="-355600" algn="l" rtl="0">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Enhances accessibility to affordable, AI-powered competitive exam preparation, empowering students from diverse economic and geographic backgrounds.</a:t>
            </a:r>
            <a:br>
              <a:rPr lang="en" sz="2000">
                <a:solidFill>
                  <a:schemeClr val="lt1"/>
                </a:solidFill>
                <a:latin typeface="Times New Roman"/>
                <a:ea typeface="Times New Roman"/>
                <a:cs typeface="Times New Roman"/>
                <a:sym typeface="Times New Roman"/>
              </a:rPr>
            </a:br>
            <a:endParaRPr sz="2000">
              <a:solidFill>
                <a:schemeClr val="lt1"/>
              </a:solidFill>
              <a:latin typeface="Times New Roman"/>
              <a:ea typeface="Times New Roman"/>
              <a:cs typeface="Times New Roman"/>
              <a:sym typeface="Times New Roman"/>
            </a:endParaRPr>
          </a:p>
          <a:p>
            <a:pPr marL="457200" lvl="0" indent="-355600" algn="l" rtl="0">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Improves exam readiness and performance through personalized doubt resolution, adaptive testing, and data-driven learning insights.</a:t>
            </a:r>
            <a:endParaRPr sz="20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2200">
              <a:solidFill>
                <a:schemeClr val="lt1"/>
              </a:solidFill>
              <a:latin typeface="Times New Roman"/>
              <a:ea typeface="Times New Roman"/>
              <a:cs typeface="Times New Roman"/>
              <a:sym typeface="Times New Roman"/>
            </a:endParaRPr>
          </a:p>
        </p:txBody>
      </p:sp>
      <p:sp>
        <p:nvSpPr>
          <p:cNvPr id="295" name="Google Shape;295;p36"/>
          <p:cNvSpPr txBox="1"/>
          <p:nvPr/>
        </p:nvSpPr>
        <p:spPr>
          <a:xfrm>
            <a:off x="4821125" y="1128350"/>
            <a:ext cx="4220400" cy="39273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None/>
            </a:pPr>
            <a:r>
              <a:rPr lang="en" sz="2000" b="1">
                <a:solidFill>
                  <a:schemeClr val="lt1"/>
                </a:solidFill>
                <a:latin typeface="Times New Roman"/>
                <a:ea typeface="Times New Roman"/>
                <a:cs typeface="Times New Roman"/>
                <a:sym typeface="Times New Roman"/>
              </a:rPr>
              <a:t>What We Learned from the Project:</a:t>
            </a:r>
            <a:endParaRPr sz="2000" b="1">
              <a:solidFill>
                <a:schemeClr val="lt1"/>
              </a:solidFill>
              <a:latin typeface="Times New Roman"/>
              <a:ea typeface="Times New Roman"/>
              <a:cs typeface="Times New Roman"/>
              <a:sym typeface="Times New Roman"/>
            </a:endParaRPr>
          </a:p>
          <a:p>
            <a:pPr marL="457200" lvl="0" indent="-342900" algn="l" rtl="0">
              <a:spcBef>
                <a:spcPts val="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Gained practical understanding of designing a scalable AI-based system architecture, including database structuring, adaptive logic building, and secure cloud integration.</a:t>
            </a:r>
            <a:br>
              <a:rPr lang="en" sz="1800">
                <a:solidFill>
                  <a:schemeClr val="lt1"/>
                </a:solidFill>
                <a:latin typeface="Times New Roman"/>
                <a:ea typeface="Times New Roman"/>
                <a:cs typeface="Times New Roman"/>
                <a:sym typeface="Times New Roman"/>
              </a:rPr>
            </a:br>
            <a:endParaRPr sz="1800">
              <a:solidFill>
                <a:schemeClr val="lt1"/>
              </a:solidFill>
              <a:latin typeface="Times New Roman"/>
              <a:ea typeface="Times New Roman"/>
              <a:cs typeface="Times New Roman"/>
              <a:sym typeface="Times New Roman"/>
            </a:endParaRPr>
          </a:p>
          <a:p>
            <a:pPr marL="457200" lvl="0" indent="-342900" algn="l" rtl="0">
              <a:spcBef>
                <a:spcPts val="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Learned the importance of user-centric design, performance optimization, and data-driven decision-making in building an effective and commercially viable EdTech product.</a:t>
            </a:r>
            <a:endParaRPr sz="18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2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7"/>
          <p:cNvSpPr txBox="1">
            <a:spLocks noGrp="1"/>
          </p:cNvSpPr>
          <p:nvPr>
            <p:ph type="title"/>
          </p:nvPr>
        </p:nvSpPr>
        <p:spPr>
          <a:xfrm>
            <a:off x="0" y="0"/>
            <a:ext cx="9144000" cy="5143500"/>
          </a:xfrm>
          <a:prstGeom prst="rect">
            <a:avLst/>
          </a:prstGeom>
        </p:spPr>
        <p:txBody>
          <a:bodyPr spcFirstLastPara="1" wrap="square" lIns="0" tIns="0" rIns="0" bIns="0" anchor="t" anchorCtr="0">
            <a:normAutofit/>
          </a:bodyPr>
          <a:lstStyle/>
          <a:p>
            <a:pPr marL="0" lvl="0" indent="0" algn="ctr" rtl="0">
              <a:lnSpc>
                <a:spcPct val="115000"/>
              </a:lnSpc>
              <a:spcBef>
                <a:spcPts val="0"/>
              </a:spcBef>
              <a:spcAft>
                <a:spcPts val="0"/>
              </a:spcAft>
              <a:buNone/>
            </a:pPr>
            <a:r>
              <a:rPr lang="en" sz="3300" b="1">
                <a:latin typeface="Times New Roman"/>
                <a:ea typeface="Times New Roman"/>
                <a:cs typeface="Times New Roman"/>
                <a:sym typeface="Times New Roman"/>
              </a:rPr>
              <a:t>PRODUCT DESIGN PATENT</a:t>
            </a:r>
            <a:endParaRPr sz="3300" b="1">
              <a:latin typeface="Times New Roman"/>
              <a:ea typeface="Times New Roman"/>
              <a:cs typeface="Times New Roman"/>
              <a:sym typeface="Times New Roman"/>
            </a:endParaRPr>
          </a:p>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301" name="Google Shape;301;p37"/>
          <p:cNvSpPr txBox="1"/>
          <p:nvPr/>
        </p:nvSpPr>
        <p:spPr>
          <a:xfrm>
            <a:off x="161200" y="718050"/>
            <a:ext cx="8821500" cy="4425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 sz="2400" b="1">
                <a:solidFill>
                  <a:schemeClr val="lt1"/>
                </a:solidFill>
                <a:latin typeface="Times New Roman"/>
                <a:ea typeface="Times New Roman"/>
                <a:cs typeface="Times New Roman"/>
                <a:sym typeface="Times New Roman"/>
              </a:rPr>
              <a:t>Unique Features:</a:t>
            </a:r>
            <a:endParaRPr sz="2400" b="1">
              <a:solidFill>
                <a:schemeClr val="lt1"/>
              </a:solidFill>
              <a:latin typeface="Times New Roman"/>
              <a:ea typeface="Times New Roman"/>
              <a:cs typeface="Times New Roman"/>
              <a:sym typeface="Times New Roman"/>
            </a:endParaRPr>
          </a:p>
          <a:p>
            <a:pPr marL="457200" lvl="0" indent="-355600" algn="l" rtl="0">
              <a:spcBef>
                <a:spcPts val="0"/>
              </a:spcBef>
              <a:spcAft>
                <a:spcPts val="0"/>
              </a:spcAft>
              <a:buClr>
                <a:schemeClr val="lt1"/>
              </a:buClr>
              <a:buSzPts val="2000"/>
              <a:buFont typeface="Times New Roman"/>
              <a:buChar char="●"/>
            </a:pPr>
            <a:r>
              <a:rPr lang="en" sz="2000" b="1">
                <a:solidFill>
                  <a:schemeClr val="lt1"/>
                </a:solidFill>
                <a:latin typeface="Times New Roman"/>
                <a:ea typeface="Times New Roman"/>
                <a:cs typeface="Times New Roman"/>
                <a:sym typeface="Times New Roman"/>
              </a:rPr>
              <a:t>Custom AI Doubt Engine:</a:t>
            </a:r>
            <a:r>
              <a:rPr lang="en" sz="2000">
                <a:solidFill>
                  <a:schemeClr val="lt1"/>
                </a:solidFill>
                <a:latin typeface="Times New Roman"/>
                <a:ea typeface="Times New Roman"/>
                <a:cs typeface="Times New Roman"/>
                <a:sym typeface="Times New Roman"/>
              </a:rPr>
              <a:t> Proprietary AI system tailored specifically to competitive exam patterns for instant, exam-focused explanations.</a:t>
            </a:r>
            <a:br>
              <a:rPr lang="en" sz="2000">
                <a:solidFill>
                  <a:schemeClr val="lt1"/>
                </a:solidFill>
                <a:latin typeface="Times New Roman"/>
                <a:ea typeface="Times New Roman"/>
                <a:cs typeface="Times New Roman"/>
                <a:sym typeface="Times New Roman"/>
              </a:rPr>
            </a:br>
            <a:endParaRPr sz="2000">
              <a:solidFill>
                <a:schemeClr val="lt1"/>
              </a:solidFill>
              <a:latin typeface="Times New Roman"/>
              <a:ea typeface="Times New Roman"/>
              <a:cs typeface="Times New Roman"/>
              <a:sym typeface="Times New Roman"/>
            </a:endParaRPr>
          </a:p>
          <a:p>
            <a:pPr marL="457200" lvl="0" indent="-355600" algn="l" rtl="0">
              <a:spcBef>
                <a:spcPts val="0"/>
              </a:spcBef>
              <a:spcAft>
                <a:spcPts val="0"/>
              </a:spcAft>
              <a:buClr>
                <a:schemeClr val="lt1"/>
              </a:buClr>
              <a:buSzPts val="2000"/>
              <a:buFont typeface="Times New Roman"/>
              <a:buChar char="●"/>
            </a:pPr>
            <a:r>
              <a:rPr lang="en" sz="2000" b="1">
                <a:solidFill>
                  <a:schemeClr val="lt1"/>
                </a:solidFill>
                <a:latin typeface="Times New Roman"/>
                <a:ea typeface="Times New Roman"/>
                <a:cs typeface="Times New Roman"/>
                <a:sym typeface="Times New Roman"/>
              </a:rPr>
              <a:t>Adaptive Mock Intelligence:</a:t>
            </a:r>
            <a:r>
              <a:rPr lang="en" sz="2000">
                <a:solidFill>
                  <a:schemeClr val="lt1"/>
                </a:solidFill>
                <a:latin typeface="Times New Roman"/>
                <a:ea typeface="Times New Roman"/>
                <a:cs typeface="Times New Roman"/>
                <a:sym typeface="Times New Roman"/>
              </a:rPr>
              <a:t> Dynamically adjusts question difficulty and topic focus based on real-time performance analytics.</a:t>
            </a:r>
            <a:br>
              <a:rPr lang="en" sz="2000">
                <a:solidFill>
                  <a:schemeClr val="lt1"/>
                </a:solidFill>
                <a:latin typeface="Times New Roman"/>
                <a:ea typeface="Times New Roman"/>
                <a:cs typeface="Times New Roman"/>
                <a:sym typeface="Times New Roman"/>
              </a:rPr>
            </a:br>
            <a:endParaRPr sz="2000">
              <a:solidFill>
                <a:schemeClr val="lt1"/>
              </a:solidFill>
              <a:latin typeface="Times New Roman"/>
              <a:ea typeface="Times New Roman"/>
              <a:cs typeface="Times New Roman"/>
              <a:sym typeface="Times New Roman"/>
            </a:endParaRPr>
          </a:p>
          <a:p>
            <a:pPr marL="457200" lvl="0" indent="-355600" algn="l" rtl="0">
              <a:spcBef>
                <a:spcPts val="0"/>
              </a:spcBef>
              <a:spcAft>
                <a:spcPts val="0"/>
              </a:spcAft>
              <a:buClr>
                <a:schemeClr val="lt1"/>
              </a:buClr>
              <a:buSzPts val="2000"/>
              <a:buFont typeface="Times New Roman"/>
              <a:buChar char="●"/>
            </a:pPr>
            <a:r>
              <a:rPr lang="en" sz="2000" b="1">
                <a:solidFill>
                  <a:schemeClr val="lt1"/>
                </a:solidFill>
                <a:latin typeface="Times New Roman"/>
                <a:ea typeface="Times New Roman"/>
                <a:cs typeface="Times New Roman"/>
                <a:sym typeface="Times New Roman"/>
              </a:rPr>
              <a:t>Integrated PYQ Trend Analysis:</a:t>
            </a:r>
            <a:r>
              <a:rPr lang="en" sz="2000">
                <a:solidFill>
                  <a:schemeClr val="lt1"/>
                </a:solidFill>
                <a:latin typeface="Times New Roman"/>
                <a:ea typeface="Times New Roman"/>
                <a:cs typeface="Times New Roman"/>
                <a:sym typeface="Times New Roman"/>
              </a:rPr>
              <a:t> Organizes and analyzes previous year questions to identify frequently asked topics and predict preparation priorities.</a:t>
            </a:r>
            <a:endParaRPr sz="20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24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lt1"/>
                </a:solidFill>
                <a:latin typeface="Times New Roman"/>
                <a:ea typeface="Times New Roman"/>
                <a:cs typeface="Times New Roman"/>
                <a:sym typeface="Times New Roman"/>
              </a:rPr>
              <a:t>Link:</a:t>
            </a:r>
            <a:r>
              <a:rPr lang="en" sz="2000" u="sng">
                <a:solidFill>
                  <a:schemeClr val="hlink"/>
                </a:solidFill>
                <a:latin typeface="Times New Roman"/>
                <a:ea typeface="Times New Roman"/>
                <a:cs typeface="Times New Roman"/>
                <a:sym typeface="Times New Roman"/>
                <a:hlinkClick r:id="rId3"/>
              </a:rPr>
              <a:t>https://docs.google.com/document/d/1ObbwCYQqxkhPMQAFDY4w3i5Xkahl4huGMzWZ-sa7DTs/edit?usp=sharing</a:t>
            </a:r>
            <a:endParaRPr sz="2000">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8"/>
          <p:cNvSpPr txBox="1">
            <a:spLocks noGrp="1"/>
          </p:cNvSpPr>
          <p:nvPr>
            <p:ph type="title"/>
          </p:nvPr>
        </p:nvSpPr>
        <p:spPr>
          <a:xfrm>
            <a:off x="0" y="0"/>
            <a:ext cx="9144000" cy="5143500"/>
          </a:xfrm>
          <a:prstGeom prst="rect">
            <a:avLst/>
          </a:prstGeom>
        </p:spPr>
        <p:txBody>
          <a:bodyPr spcFirstLastPara="1" wrap="square" lIns="0" tIns="0" rIns="0" bIns="0" anchor="t" anchorCtr="0">
            <a:normAutofit/>
          </a:bodyPr>
          <a:lstStyle/>
          <a:p>
            <a:pPr marL="1371600" lvl="0" indent="457200" algn="l" rtl="0">
              <a:spcBef>
                <a:spcPts val="0"/>
              </a:spcBef>
              <a:spcAft>
                <a:spcPts val="0"/>
              </a:spcAft>
              <a:buNone/>
            </a:pPr>
            <a:endParaRPr sz="2800" b="1">
              <a:latin typeface="Times New Roman"/>
              <a:ea typeface="Times New Roman"/>
              <a:cs typeface="Times New Roman"/>
              <a:sym typeface="Times New Roman"/>
            </a:endParaRPr>
          </a:p>
          <a:p>
            <a:pPr marL="2743200" lvl="0" indent="457200" algn="l" rtl="0">
              <a:spcBef>
                <a:spcPts val="0"/>
              </a:spcBef>
              <a:spcAft>
                <a:spcPts val="0"/>
              </a:spcAft>
              <a:buNone/>
            </a:pPr>
            <a:r>
              <a:rPr lang="en" sz="2800" b="1">
                <a:latin typeface="Times New Roman"/>
                <a:ea typeface="Times New Roman"/>
                <a:cs typeface="Times New Roman"/>
                <a:sym typeface="Times New Roman"/>
              </a:rPr>
              <a:t>Development Stack</a:t>
            </a:r>
            <a:endParaRPr>
              <a:latin typeface="Times New Roman"/>
              <a:ea typeface="Times New Roman"/>
              <a:cs typeface="Times New Roman"/>
              <a:sym typeface="Times New Roman"/>
            </a:endParaRPr>
          </a:p>
        </p:txBody>
      </p:sp>
      <p:sp>
        <p:nvSpPr>
          <p:cNvPr id="307" name="Google Shape;307;p38"/>
          <p:cNvSpPr txBox="1"/>
          <p:nvPr/>
        </p:nvSpPr>
        <p:spPr>
          <a:xfrm>
            <a:off x="131875" y="1084375"/>
            <a:ext cx="2857500" cy="3883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 sz="2000" b="1">
                <a:solidFill>
                  <a:schemeClr val="lt1"/>
                </a:solidFill>
                <a:latin typeface="Times New Roman"/>
                <a:ea typeface="Times New Roman"/>
                <a:cs typeface="Times New Roman"/>
                <a:sym typeface="Times New Roman"/>
              </a:rPr>
              <a:t>FRONTEND</a:t>
            </a:r>
            <a:endParaRPr sz="2000" b="1">
              <a:solidFill>
                <a:schemeClr val="lt1"/>
              </a:solidFill>
              <a:latin typeface="Times New Roman"/>
              <a:ea typeface="Times New Roman"/>
              <a:cs typeface="Times New Roman"/>
              <a:sym typeface="Times New Roman"/>
            </a:endParaRPr>
          </a:p>
          <a:p>
            <a:pPr marL="12700" lvl="0" indent="0" algn="l" rtl="0">
              <a:lnSpc>
                <a:spcPct val="115000"/>
              </a:lnSpc>
              <a:spcBef>
                <a:spcPts val="1200"/>
              </a:spcBef>
              <a:spcAft>
                <a:spcPts val="0"/>
              </a:spcAft>
              <a:buNone/>
            </a:pPr>
            <a:r>
              <a:rPr lang="en" sz="1800">
                <a:solidFill>
                  <a:schemeClr val="lt1"/>
                </a:solidFill>
                <a:latin typeface="Times New Roman"/>
                <a:ea typeface="Times New Roman"/>
                <a:cs typeface="Times New Roman"/>
                <a:sym typeface="Times New Roman"/>
              </a:rPr>
              <a:t>●</a:t>
            </a:r>
            <a:r>
              <a:rPr lang="en" sz="1800" b="1">
                <a:solidFill>
                  <a:schemeClr val="lt1"/>
                </a:solidFill>
                <a:latin typeface="Times New Roman"/>
                <a:ea typeface="Times New Roman"/>
                <a:cs typeface="Times New Roman"/>
                <a:sym typeface="Times New Roman"/>
              </a:rPr>
              <a:t>Platform:</a:t>
            </a:r>
            <a:r>
              <a:rPr lang="en" sz="1800">
                <a:solidFill>
                  <a:schemeClr val="lt1"/>
                </a:solidFill>
                <a:latin typeface="Times New Roman"/>
                <a:ea typeface="Times New Roman"/>
                <a:cs typeface="Times New Roman"/>
                <a:sym typeface="Times New Roman"/>
              </a:rPr>
              <a:t> Android (Java)</a:t>
            </a:r>
            <a:endParaRPr sz="1800">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800">
                <a:solidFill>
                  <a:schemeClr val="lt1"/>
                </a:solidFill>
                <a:latin typeface="Times New Roman"/>
                <a:ea typeface="Times New Roman"/>
                <a:cs typeface="Times New Roman"/>
                <a:sym typeface="Times New Roman"/>
              </a:rPr>
              <a:t>●</a:t>
            </a:r>
            <a:r>
              <a:rPr lang="en" sz="1800" b="1">
                <a:solidFill>
                  <a:schemeClr val="lt1"/>
                </a:solidFill>
                <a:latin typeface="Times New Roman"/>
                <a:ea typeface="Times New Roman"/>
                <a:cs typeface="Times New Roman"/>
                <a:sym typeface="Times New Roman"/>
              </a:rPr>
              <a:t>UI Design:</a:t>
            </a:r>
            <a:r>
              <a:rPr lang="en" sz="1800">
                <a:solidFill>
                  <a:schemeClr val="lt1"/>
                </a:solidFill>
                <a:latin typeface="Times New Roman"/>
                <a:ea typeface="Times New Roman"/>
                <a:cs typeface="Times New Roman"/>
                <a:sym typeface="Times New Roman"/>
              </a:rPr>
              <a:t> Figma</a:t>
            </a:r>
            <a:endParaRPr sz="1800">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800">
                <a:solidFill>
                  <a:schemeClr val="lt1"/>
                </a:solidFill>
                <a:latin typeface="Times New Roman"/>
                <a:ea typeface="Times New Roman"/>
                <a:cs typeface="Times New Roman"/>
                <a:sym typeface="Times New Roman"/>
              </a:rPr>
              <a:t>●</a:t>
            </a:r>
            <a:r>
              <a:rPr lang="en" sz="1800" b="1">
                <a:solidFill>
                  <a:schemeClr val="lt1"/>
                </a:solidFill>
                <a:latin typeface="Times New Roman"/>
                <a:ea typeface="Times New Roman"/>
                <a:cs typeface="Times New Roman"/>
                <a:sym typeface="Times New Roman"/>
              </a:rPr>
              <a:t>Framework:</a:t>
            </a:r>
            <a:r>
              <a:rPr lang="en" sz="1800">
                <a:solidFill>
                  <a:schemeClr val="lt1"/>
                </a:solidFill>
                <a:latin typeface="Times New Roman"/>
                <a:ea typeface="Times New Roman"/>
                <a:cs typeface="Times New Roman"/>
                <a:sym typeface="Times New Roman"/>
              </a:rPr>
              <a:t> Android Studio with XML layouts + RecyclerView, Adapters, Activities/Fragments</a:t>
            </a:r>
            <a:endParaRPr sz="1800">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800">
                <a:solidFill>
                  <a:schemeClr val="lt1"/>
                </a:solidFill>
                <a:latin typeface="Times New Roman"/>
                <a:ea typeface="Times New Roman"/>
                <a:cs typeface="Times New Roman"/>
                <a:sym typeface="Times New Roman"/>
              </a:rPr>
              <a:t>●</a:t>
            </a:r>
            <a:r>
              <a:rPr lang="en" sz="1800" b="1">
                <a:solidFill>
                  <a:schemeClr val="lt1"/>
                </a:solidFill>
                <a:latin typeface="Times New Roman"/>
                <a:ea typeface="Times New Roman"/>
                <a:cs typeface="Times New Roman"/>
                <a:sym typeface="Times New Roman"/>
              </a:rPr>
              <a:t>Purpose:</a:t>
            </a:r>
            <a:r>
              <a:rPr lang="en" sz="1800">
                <a:solidFill>
                  <a:schemeClr val="lt1"/>
                </a:solidFill>
                <a:latin typeface="Times New Roman"/>
                <a:ea typeface="Times New Roman"/>
                <a:cs typeface="Times New Roman"/>
                <a:sym typeface="Times New Roman"/>
              </a:rPr>
              <a:t> User onboarding, idea input, domain selection, and LLD result display</a:t>
            </a:r>
            <a:endParaRPr sz="18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2000">
              <a:solidFill>
                <a:schemeClr val="lt1"/>
              </a:solidFill>
              <a:latin typeface="Times New Roman"/>
              <a:ea typeface="Times New Roman"/>
              <a:cs typeface="Times New Roman"/>
              <a:sym typeface="Times New Roman"/>
            </a:endParaRPr>
          </a:p>
        </p:txBody>
      </p:sp>
      <p:sp>
        <p:nvSpPr>
          <p:cNvPr id="308" name="Google Shape;308;p38"/>
          <p:cNvSpPr txBox="1"/>
          <p:nvPr/>
        </p:nvSpPr>
        <p:spPr>
          <a:xfrm>
            <a:off x="3267800" y="1143000"/>
            <a:ext cx="2711100" cy="3883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 sz="1600" b="1">
                <a:solidFill>
                  <a:schemeClr val="lt1"/>
                </a:solidFill>
                <a:latin typeface="Times New Roman"/>
                <a:ea typeface="Times New Roman"/>
                <a:cs typeface="Times New Roman"/>
                <a:sym typeface="Times New Roman"/>
              </a:rPr>
              <a:t>BACKEND</a:t>
            </a:r>
            <a:endParaRPr sz="1600" b="1">
              <a:solidFill>
                <a:schemeClr val="lt1"/>
              </a:solidFill>
              <a:latin typeface="Times New Roman"/>
              <a:ea typeface="Times New Roman"/>
              <a:cs typeface="Times New Roman"/>
              <a:sym typeface="Times New Roman"/>
            </a:endParaRPr>
          </a:p>
          <a:p>
            <a:pPr marL="12700" lvl="0" indent="0" algn="l" rtl="0">
              <a:lnSpc>
                <a:spcPct val="115000"/>
              </a:lnSpc>
              <a:spcBef>
                <a:spcPts val="1200"/>
              </a:spcBef>
              <a:spcAft>
                <a:spcPts val="0"/>
              </a:spcAft>
              <a:buNone/>
            </a:pPr>
            <a:r>
              <a:rPr lang="en" sz="1600">
                <a:solidFill>
                  <a:schemeClr val="lt1"/>
                </a:solidFill>
                <a:latin typeface="Times New Roman"/>
                <a:ea typeface="Times New Roman"/>
                <a:cs typeface="Times New Roman"/>
                <a:sym typeface="Times New Roman"/>
              </a:rPr>
              <a:t>●</a:t>
            </a:r>
            <a:r>
              <a:rPr lang="en" sz="1600" b="1">
                <a:solidFill>
                  <a:schemeClr val="lt1"/>
                </a:solidFill>
                <a:latin typeface="Times New Roman"/>
                <a:ea typeface="Times New Roman"/>
                <a:cs typeface="Times New Roman"/>
                <a:sym typeface="Times New Roman"/>
              </a:rPr>
              <a:t>Language:</a:t>
            </a:r>
            <a:r>
              <a:rPr lang="en" sz="1600">
                <a:solidFill>
                  <a:schemeClr val="lt1"/>
                </a:solidFill>
                <a:latin typeface="Times New Roman"/>
                <a:ea typeface="Times New Roman"/>
                <a:cs typeface="Times New Roman"/>
                <a:sym typeface="Times New Roman"/>
              </a:rPr>
              <a:t> Node.js (JavaScript)</a:t>
            </a:r>
            <a:endParaRPr sz="1600">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600">
                <a:solidFill>
                  <a:schemeClr val="lt1"/>
                </a:solidFill>
                <a:latin typeface="Times New Roman"/>
                <a:ea typeface="Times New Roman"/>
                <a:cs typeface="Times New Roman"/>
                <a:sym typeface="Times New Roman"/>
              </a:rPr>
              <a:t>●</a:t>
            </a:r>
            <a:r>
              <a:rPr lang="en" sz="1600" b="1">
                <a:solidFill>
                  <a:schemeClr val="lt1"/>
                </a:solidFill>
                <a:latin typeface="Times New Roman"/>
                <a:ea typeface="Times New Roman"/>
                <a:cs typeface="Times New Roman"/>
                <a:sym typeface="Times New Roman"/>
              </a:rPr>
              <a:t>Framework:</a:t>
            </a:r>
            <a:r>
              <a:rPr lang="en" sz="1600">
                <a:solidFill>
                  <a:schemeClr val="lt1"/>
                </a:solidFill>
                <a:latin typeface="Times New Roman"/>
                <a:ea typeface="Times New Roman"/>
                <a:cs typeface="Times New Roman"/>
                <a:sym typeface="Times New Roman"/>
              </a:rPr>
              <a:t> Express.js (REST API)</a:t>
            </a:r>
            <a:endParaRPr sz="1600">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600">
                <a:solidFill>
                  <a:schemeClr val="lt1"/>
                </a:solidFill>
                <a:latin typeface="Times New Roman"/>
                <a:ea typeface="Times New Roman"/>
                <a:cs typeface="Times New Roman"/>
                <a:sym typeface="Times New Roman"/>
              </a:rPr>
              <a:t>●</a:t>
            </a:r>
            <a:r>
              <a:rPr lang="en" sz="1600" b="1">
                <a:solidFill>
                  <a:schemeClr val="lt1"/>
                </a:solidFill>
                <a:latin typeface="Times New Roman"/>
                <a:ea typeface="Times New Roman"/>
                <a:cs typeface="Times New Roman"/>
                <a:sym typeface="Times New Roman"/>
              </a:rPr>
              <a:t>Server:</a:t>
            </a:r>
            <a:r>
              <a:rPr lang="en" sz="1600">
                <a:solidFill>
                  <a:schemeClr val="lt1"/>
                </a:solidFill>
                <a:latin typeface="Times New Roman"/>
                <a:ea typeface="Times New Roman"/>
                <a:cs typeface="Times New Roman"/>
                <a:sym typeface="Times New Roman"/>
              </a:rPr>
              <a:t> Apache (XAMPP) during development</a:t>
            </a:r>
            <a:endParaRPr sz="1600">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600">
                <a:solidFill>
                  <a:schemeClr val="lt1"/>
                </a:solidFill>
                <a:latin typeface="Times New Roman"/>
                <a:ea typeface="Times New Roman"/>
                <a:cs typeface="Times New Roman"/>
                <a:sym typeface="Times New Roman"/>
              </a:rPr>
              <a:t>●</a:t>
            </a:r>
            <a:r>
              <a:rPr lang="en" sz="1600" b="1">
                <a:solidFill>
                  <a:schemeClr val="lt1"/>
                </a:solidFill>
                <a:latin typeface="Times New Roman"/>
                <a:ea typeface="Times New Roman"/>
                <a:cs typeface="Times New Roman"/>
                <a:sym typeface="Times New Roman"/>
              </a:rPr>
              <a:t>Functionality:</a:t>
            </a:r>
            <a:endParaRPr sz="1600" b="1">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600">
                <a:solidFill>
                  <a:schemeClr val="lt1"/>
                </a:solidFill>
                <a:latin typeface="Times New Roman"/>
                <a:ea typeface="Times New Roman"/>
                <a:cs typeface="Times New Roman"/>
                <a:sym typeface="Times New Roman"/>
              </a:rPr>
              <a:t>○Handles user authentication</a:t>
            </a:r>
            <a:endParaRPr sz="1600">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600">
                <a:solidFill>
                  <a:schemeClr val="lt1"/>
                </a:solidFill>
                <a:latin typeface="Times New Roman"/>
                <a:ea typeface="Times New Roman"/>
                <a:cs typeface="Times New Roman"/>
                <a:sym typeface="Times New Roman"/>
              </a:rPr>
              <a:t>○Processes idea submissions</a:t>
            </a:r>
            <a:endParaRPr sz="1600">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600">
                <a:solidFill>
                  <a:schemeClr val="lt1"/>
                </a:solidFill>
                <a:latin typeface="Times New Roman"/>
                <a:ea typeface="Times New Roman"/>
                <a:cs typeface="Times New Roman"/>
                <a:sym typeface="Times New Roman"/>
              </a:rPr>
              <a:t>○Connects with AI services</a:t>
            </a:r>
            <a:endParaRPr sz="1600">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600">
                <a:solidFill>
                  <a:schemeClr val="lt1"/>
                </a:solidFill>
                <a:latin typeface="Times New Roman"/>
                <a:ea typeface="Times New Roman"/>
                <a:cs typeface="Times New Roman"/>
                <a:sym typeface="Times New Roman"/>
              </a:rPr>
              <a:t>○Manages project requests and responses</a:t>
            </a:r>
            <a:endParaRPr sz="16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1600">
              <a:solidFill>
                <a:schemeClr val="lt1"/>
              </a:solidFill>
              <a:latin typeface="Times New Roman"/>
              <a:ea typeface="Times New Roman"/>
              <a:cs typeface="Times New Roman"/>
              <a:sym typeface="Times New Roman"/>
            </a:endParaRPr>
          </a:p>
        </p:txBody>
      </p:sp>
      <p:sp>
        <p:nvSpPr>
          <p:cNvPr id="309" name="Google Shape;309;p38"/>
          <p:cNvSpPr txBox="1"/>
          <p:nvPr/>
        </p:nvSpPr>
        <p:spPr>
          <a:xfrm>
            <a:off x="6066700" y="1143000"/>
            <a:ext cx="3003900" cy="3883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 sz="1700" b="1">
                <a:solidFill>
                  <a:schemeClr val="lt1"/>
                </a:solidFill>
                <a:latin typeface="Times New Roman"/>
                <a:ea typeface="Times New Roman"/>
                <a:cs typeface="Times New Roman"/>
                <a:sym typeface="Times New Roman"/>
              </a:rPr>
              <a:t>DATABASE</a:t>
            </a:r>
            <a:endParaRPr sz="1700" b="1">
              <a:solidFill>
                <a:schemeClr val="lt1"/>
              </a:solidFill>
              <a:latin typeface="Times New Roman"/>
              <a:ea typeface="Times New Roman"/>
              <a:cs typeface="Times New Roman"/>
              <a:sym typeface="Times New Roman"/>
            </a:endParaRPr>
          </a:p>
          <a:p>
            <a:pPr marL="12700" lvl="0" indent="0" algn="l" rtl="0">
              <a:lnSpc>
                <a:spcPct val="115000"/>
              </a:lnSpc>
              <a:spcBef>
                <a:spcPts val="1200"/>
              </a:spcBef>
              <a:spcAft>
                <a:spcPts val="0"/>
              </a:spcAft>
              <a:buNone/>
            </a:pPr>
            <a:r>
              <a:rPr lang="en" sz="1500">
                <a:solidFill>
                  <a:schemeClr val="lt1"/>
                </a:solidFill>
                <a:latin typeface="Times New Roman"/>
                <a:ea typeface="Times New Roman"/>
                <a:cs typeface="Times New Roman"/>
                <a:sym typeface="Times New Roman"/>
              </a:rPr>
              <a:t>●</a:t>
            </a:r>
            <a:r>
              <a:rPr lang="en" sz="1500" b="1">
                <a:solidFill>
                  <a:schemeClr val="lt1"/>
                </a:solidFill>
                <a:latin typeface="Times New Roman"/>
                <a:ea typeface="Times New Roman"/>
                <a:cs typeface="Times New Roman"/>
                <a:sym typeface="Times New Roman"/>
              </a:rPr>
              <a:t>Type:</a:t>
            </a:r>
            <a:r>
              <a:rPr lang="en" sz="1500">
                <a:solidFill>
                  <a:schemeClr val="lt1"/>
                </a:solidFill>
                <a:latin typeface="Times New Roman"/>
                <a:ea typeface="Times New Roman"/>
                <a:cs typeface="Times New Roman"/>
                <a:sym typeface="Times New Roman"/>
              </a:rPr>
              <a:t> MySQL</a:t>
            </a:r>
            <a:endParaRPr sz="1500">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500">
                <a:solidFill>
                  <a:schemeClr val="lt1"/>
                </a:solidFill>
                <a:latin typeface="Times New Roman"/>
                <a:ea typeface="Times New Roman"/>
                <a:cs typeface="Times New Roman"/>
                <a:sym typeface="Times New Roman"/>
              </a:rPr>
              <a:t>●</a:t>
            </a:r>
            <a:r>
              <a:rPr lang="en" sz="1500" b="1">
                <a:solidFill>
                  <a:schemeClr val="lt1"/>
                </a:solidFill>
                <a:latin typeface="Times New Roman"/>
                <a:ea typeface="Times New Roman"/>
                <a:cs typeface="Times New Roman"/>
                <a:sym typeface="Times New Roman"/>
              </a:rPr>
              <a:t>Name:</a:t>
            </a:r>
            <a:r>
              <a:rPr lang="en" sz="1500">
                <a:solidFill>
                  <a:schemeClr val="lt1"/>
                </a:solidFill>
                <a:latin typeface="Times New Roman"/>
                <a:ea typeface="Times New Roman"/>
                <a:cs typeface="Times New Roman"/>
                <a:sym typeface="Times New Roman"/>
              </a:rPr>
              <a:t> Idea2LLD</a:t>
            </a:r>
            <a:endParaRPr sz="1500">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500">
                <a:solidFill>
                  <a:schemeClr val="lt1"/>
                </a:solidFill>
                <a:latin typeface="Times New Roman"/>
                <a:ea typeface="Times New Roman"/>
                <a:cs typeface="Times New Roman"/>
                <a:sym typeface="Times New Roman"/>
              </a:rPr>
              <a:t>●</a:t>
            </a:r>
            <a:r>
              <a:rPr lang="en" sz="1500" b="1">
                <a:solidFill>
                  <a:schemeClr val="lt1"/>
                </a:solidFill>
                <a:latin typeface="Times New Roman"/>
                <a:ea typeface="Times New Roman"/>
                <a:cs typeface="Times New Roman"/>
                <a:sym typeface="Times New Roman"/>
              </a:rPr>
              <a:t>Backend + Database:</a:t>
            </a:r>
            <a:endParaRPr sz="1500" b="1">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500">
                <a:solidFill>
                  <a:schemeClr val="lt1"/>
                </a:solidFill>
                <a:latin typeface="Times New Roman"/>
                <a:ea typeface="Times New Roman"/>
                <a:cs typeface="Times New Roman"/>
                <a:sym typeface="Times New Roman"/>
              </a:rPr>
              <a:t>○Node.js + MySQL for CRUD operations</a:t>
            </a:r>
            <a:endParaRPr sz="1500">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500">
                <a:solidFill>
                  <a:schemeClr val="lt1"/>
                </a:solidFill>
                <a:latin typeface="Times New Roman"/>
                <a:ea typeface="Times New Roman"/>
                <a:cs typeface="Times New Roman"/>
                <a:sym typeface="Times New Roman"/>
              </a:rPr>
              <a:t>○Stores users, projects, requests, and categories</a:t>
            </a:r>
            <a:endParaRPr sz="1500">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500">
                <a:solidFill>
                  <a:schemeClr val="lt1"/>
                </a:solidFill>
                <a:latin typeface="Times New Roman"/>
                <a:ea typeface="Times New Roman"/>
                <a:cs typeface="Times New Roman"/>
                <a:sym typeface="Times New Roman"/>
              </a:rPr>
              <a:t>●</a:t>
            </a:r>
            <a:r>
              <a:rPr lang="en" sz="1500" b="1">
                <a:solidFill>
                  <a:schemeClr val="lt1"/>
                </a:solidFill>
                <a:latin typeface="Times New Roman"/>
                <a:ea typeface="Times New Roman"/>
                <a:cs typeface="Times New Roman"/>
                <a:sym typeface="Times New Roman"/>
              </a:rPr>
              <a:t>Frontend + Backend:</a:t>
            </a:r>
            <a:endParaRPr sz="1500" b="1">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500">
                <a:solidFill>
                  <a:schemeClr val="lt1"/>
                </a:solidFill>
                <a:latin typeface="Times New Roman"/>
                <a:ea typeface="Times New Roman"/>
                <a:cs typeface="Times New Roman"/>
                <a:sym typeface="Times New Roman"/>
              </a:rPr>
              <a:t>○API (HTTP requests) via Retrofit / Volley in Android</a:t>
            </a:r>
            <a:endParaRPr sz="1500">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500">
                <a:solidFill>
                  <a:schemeClr val="lt1"/>
                </a:solidFill>
                <a:latin typeface="Times New Roman"/>
                <a:ea typeface="Times New Roman"/>
                <a:cs typeface="Times New Roman"/>
                <a:sym typeface="Times New Roman"/>
              </a:rPr>
              <a:t>○Node.js APIs → MySQL queries</a:t>
            </a:r>
            <a:endParaRPr sz="1500">
              <a:solidFill>
                <a:schemeClr val="lt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 sz="1500">
                <a:solidFill>
                  <a:schemeClr val="lt1"/>
                </a:solidFill>
                <a:latin typeface="Times New Roman"/>
                <a:ea typeface="Times New Roman"/>
                <a:cs typeface="Times New Roman"/>
                <a:sym typeface="Times New Roman"/>
              </a:rPr>
              <a:t>○JSON-based responses</a:t>
            </a:r>
            <a:endParaRPr sz="15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17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9"/>
          <p:cNvSpPr/>
          <p:nvPr/>
        </p:nvSpPr>
        <p:spPr>
          <a:xfrm>
            <a:off x="284700" y="3703425"/>
            <a:ext cx="4227300" cy="965100"/>
          </a:xfrm>
          <a:prstGeom prst="roundRect">
            <a:avLst>
              <a:gd name="adj" fmla="val 11349"/>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strument Sans"/>
              <a:ea typeface="Instrument Sans"/>
              <a:cs typeface="Instrument Sans"/>
              <a:sym typeface="Instrument Sans"/>
            </a:endParaRPr>
          </a:p>
        </p:txBody>
      </p:sp>
      <p:sp>
        <p:nvSpPr>
          <p:cNvPr id="315" name="Google Shape;315;p39"/>
          <p:cNvSpPr txBox="1">
            <a:spLocks noGrp="1"/>
          </p:cNvSpPr>
          <p:nvPr>
            <p:ph type="title"/>
          </p:nvPr>
        </p:nvSpPr>
        <p:spPr>
          <a:xfrm>
            <a:off x="291800" y="465200"/>
            <a:ext cx="5666400" cy="785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Thank you</a:t>
            </a:r>
            <a:endParaRPr/>
          </a:p>
        </p:txBody>
      </p:sp>
      <p:sp>
        <p:nvSpPr>
          <p:cNvPr id="316" name="Google Shape;316;p39"/>
          <p:cNvSpPr txBox="1">
            <a:spLocks noGrp="1"/>
          </p:cNvSpPr>
          <p:nvPr>
            <p:ph type="subTitle" idx="1"/>
          </p:nvPr>
        </p:nvSpPr>
        <p:spPr>
          <a:prstGeom prst="rect">
            <a:avLst/>
          </a:prstGeom>
        </p:spPr>
        <p:txBody>
          <a:bodyPr spcFirstLastPara="1" wrap="square" lIns="0" tIns="0" rIns="0" bIns="0" anchor="t" anchorCtr="0">
            <a:normAutofit fontScale="92500" lnSpcReduction="10000"/>
          </a:bodyPr>
          <a:lstStyle/>
          <a:p>
            <a:pPr marL="0" lvl="0" indent="0" algn="l" rtl="0">
              <a:spcBef>
                <a:spcPts val="0"/>
              </a:spcBef>
              <a:spcAft>
                <a:spcPts val="1200"/>
              </a:spcAft>
              <a:buNone/>
            </a:pPr>
            <a:r>
              <a:rPr lang="en"/>
              <a:t>name@example.com</a:t>
            </a:r>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0</TotalTime>
  <Words>1453</Words>
  <Application>Microsoft Office PowerPoint</Application>
  <PresentationFormat>On-screen Show (16:9)</PresentationFormat>
  <Paragraphs>129</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Times New Roman</vt:lpstr>
      <vt:lpstr>Instrument Sans</vt:lpstr>
      <vt:lpstr>Lato</vt:lpstr>
      <vt:lpstr>Wingdings 3</vt:lpstr>
      <vt:lpstr>Arial</vt:lpstr>
      <vt:lpstr>Instrument Sans Medium</vt:lpstr>
      <vt:lpstr>Instrument Sans SemiBold</vt:lpstr>
      <vt:lpstr>Century Gothic</vt:lpstr>
      <vt:lpstr>Ion</vt:lpstr>
      <vt:lpstr> AN AI - Powered Exam Preparation APP For Aspirants.                  Presented By I RAHUL(192210528)              CSE Department              SIMATS Engineering  </vt:lpstr>
      <vt:lpstr> PROJECT OVERVIEW      THE PRODUCT:    The AI-Based Competitive Exam Preparation App is an intelligent, scalable, and cost-effective digital learning solution that helps candidates with instant AI-driven doubt resolution, adaptive mock testing, and organized Previous Year Question (PYQ) practice. To ensure seamless and reliable operation for a broad user base, the product incorporates individualized performance statistics, secure student and administrator access, and a cloud-based architecture. The software improves exam readiness through self-paced and data-driven learning while remaining accessible, efficient, and cost-effective.   PROJECT TIMELINE: 11 WEEKS  </vt:lpstr>
      <vt:lpstr>      PROBLEM STATEMENT   In today's competitive exam market, applicants confront a number of problems, including expensive coaching costs, a lack of individualized learning help, and difficulty tracking exam readiness. Most present platforms rely largely on live classes or generic material distribution, limiting accessibility and failing to properly address individual concerns. Furthermore, students frequently struggle to recognize their weak points and practice effectively, resulting in poor preparation outcomes. The suggested AI-powered app intends to address these issues by offering affordable, self-paced, and tailored exam preparation that includes fast doubt resolution, adaptive mock testing, and performance statistics.</vt:lpstr>
      <vt:lpstr> PROJECT OVERVIEW   Problem:            </vt:lpstr>
      <vt:lpstr>  PROJECT OVERVIEW</vt:lpstr>
      <vt:lpstr>PowerPoint Presentation</vt:lpstr>
      <vt:lpstr>PowerPoint Presentation</vt:lpstr>
      <vt:lpstr> UNDERSTANDING THE USERS  </vt:lpstr>
      <vt:lpstr>          Aspirants</vt:lpstr>
      <vt:lpstr>COMPETITIVE                  ANALYSIS </vt:lpstr>
      <vt:lpstr>User Research: Summary </vt:lpstr>
      <vt:lpstr>BUSINESS POTENTIAL </vt:lpstr>
      <vt:lpstr> COMPETITIVE ANALYSIS </vt:lpstr>
      <vt:lpstr> COMPETITIVE ANALYSIS </vt:lpstr>
      <vt:lpstr>User Research: Pain Points </vt:lpstr>
      <vt:lpstr> MOCKUPS LOW FIDELITY-(CONVERGENCE)</vt:lpstr>
      <vt:lpstr> USABILITY STUDIES</vt:lpstr>
      <vt:lpstr>PRODUCT HI FIDELITY</vt:lpstr>
      <vt:lpstr> PRODUCT DESIGN MOCKUPS</vt:lpstr>
      <vt:lpstr>PRODUCT DESIGN PATENT </vt:lpstr>
      <vt:lpstr> Development Stack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islavath</cp:lastModifiedBy>
  <cp:revision>1</cp:revision>
  <dcterms:modified xsi:type="dcterms:W3CDTF">2026-03-17T16:59:30Z</dcterms:modified>
</cp:coreProperties>
</file>